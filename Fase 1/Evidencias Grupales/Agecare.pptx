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Nunito Bold" charset="1" panose="00000000000000000000"/>
      <p:regular r:id="rId20"/>
    </p:embeddedFont>
    <p:embeddedFont>
      <p:font typeface="Nunito Sans" charset="1" panose="00000000000000000000"/>
      <p:regular r:id="rId21"/>
    </p:embeddedFont>
    <p:embeddedFont>
      <p:font typeface="Nunito Sans Bold" charset="1" panose="00000000000000000000"/>
      <p:regular r:id="rId22"/>
    </p:embeddedFont>
    <p:embeddedFont>
      <p:font typeface="Nunito Sans Bold Italics" charset="1" panose="00000000000000000000"/>
      <p:regular r:id="rId23"/>
    </p:embeddedFont>
    <p:embeddedFont>
      <p:font typeface="Nunito Bold Italics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23.png" Type="http://schemas.openxmlformats.org/officeDocument/2006/relationships/image"/><Relationship Id="rId17" Target="../media/image24.svg" Type="http://schemas.openxmlformats.org/officeDocument/2006/relationships/image"/><Relationship Id="rId18" Target="../media/image25.png" Type="http://schemas.openxmlformats.org/officeDocument/2006/relationships/image"/><Relationship Id="rId19" Target="../media/image26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276929">
            <a:off x="-4293704" y="4747069"/>
            <a:ext cx="12426480" cy="6064985"/>
          </a:xfrm>
          <a:custGeom>
            <a:avLst/>
            <a:gdLst/>
            <a:ahLst/>
            <a:cxnLst/>
            <a:rect r="r" b="b" t="t" l="l"/>
            <a:pathLst>
              <a:path h="6064985" w="12426480">
                <a:moveTo>
                  <a:pt x="0" y="0"/>
                </a:moveTo>
                <a:lnTo>
                  <a:pt x="12426480" y="0"/>
                </a:lnTo>
                <a:lnTo>
                  <a:pt x="12426480" y="6064985"/>
                </a:lnTo>
                <a:lnTo>
                  <a:pt x="0" y="6064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2109" y="2121025"/>
            <a:ext cx="8399480" cy="10662353"/>
          </a:xfrm>
          <a:custGeom>
            <a:avLst/>
            <a:gdLst/>
            <a:ahLst/>
            <a:cxnLst/>
            <a:rect r="r" b="b" t="t" l="l"/>
            <a:pathLst>
              <a:path h="10662353" w="8399480">
                <a:moveTo>
                  <a:pt x="0" y="0"/>
                </a:moveTo>
                <a:lnTo>
                  <a:pt x="8399479" y="0"/>
                </a:lnTo>
                <a:lnTo>
                  <a:pt x="8399479" y="10662353"/>
                </a:lnTo>
                <a:lnTo>
                  <a:pt x="0" y="10662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997521">
            <a:off x="7703276" y="-6696027"/>
            <a:ext cx="11799995" cy="11114034"/>
          </a:xfrm>
          <a:custGeom>
            <a:avLst/>
            <a:gdLst/>
            <a:ahLst/>
            <a:cxnLst/>
            <a:rect r="r" b="b" t="t" l="l"/>
            <a:pathLst>
              <a:path h="11114034" w="11799995">
                <a:moveTo>
                  <a:pt x="0" y="0"/>
                </a:moveTo>
                <a:lnTo>
                  <a:pt x="11799995" y="0"/>
                </a:lnTo>
                <a:lnTo>
                  <a:pt x="11799995" y="11114034"/>
                </a:lnTo>
                <a:lnTo>
                  <a:pt x="0" y="111140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1838940" y="8354789"/>
            <a:ext cx="3528667" cy="903511"/>
            <a:chOff x="0" y="0"/>
            <a:chExt cx="4704889" cy="12046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5658" cy="1204681"/>
            </a:xfrm>
            <a:custGeom>
              <a:avLst/>
              <a:gdLst/>
              <a:ahLst/>
              <a:cxnLst/>
              <a:rect r="r" b="b" t="t" l="l"/>
              <a:pathLst>
                <a:path h="1204681" w="1425658">
                  <a:moveTo>
                    <a:pt x="0" y="0"/>
                  </a:moveTo>
                  <a:lnTo>
                    <a:pt x="1425658" y="0"/>
                  </a:lnTo>
                  <a:lnTo>
                    <a:pt x="1425658" y="1204681"/>
                  </a:lnTo>
                  <a:lnTo>
                    <a:pt x="0" y="1204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698885" y="55605"/>
              <a:ext cx="3006004" cy="1079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0"/>
                </a:lnSpc>
              </a:pPr>
              <a:r>
                <a:rPr lang="en-US" b="true" sz="1600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PLATAFORMA DE CUIDADO PARA ADULTOS MAYORES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71678" y="4813347"/>
            <a:ext cx="8063191" cy="1382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48"/>
              </a:lnSpc>
            </a:pPr>
            <a:r>
              <a:rPr lang="en-US" b="true" sz="10046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AgeCare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37679" y="1302086"/>
            <a:ext cx="7606321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B7B1F4"/>
                </a:solidFill>
                <a:latin typeface="Nunito Bold"/>
                <a:ea typeface="Nunito Bold"/>
                <a:cs typeface="Nunito Bold"/>
                <a:sym typeface="Nunito Bold"/>
              </a:rPr>
              <a:t>¿QUÉ ES AGECARE?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37679" y="2191915"/>
            <a:ext cx="7606321" cy="683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3"/>
              </a:lnSpc>
            </a:pPr>
            <a:r>
              <a:rPr lang="en-US" sz="22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AgeCare es una plataforma digital de cuidado remoto para adultos mayores que integra monitoreo de salud con dispositivos vestibles, alertas y comunicación con IA. Opera mediante datos compartidos con interfaces adaptadas a cuatro roles:</a:t>
            </a:r>
          </a:p>
          <a:p>
            <a:pPr algn="just">
              <a:lnSpc>
                <a:spcPts val="3403"/>
              </a:lnSpc>
            </a:pPr>
          </a:p>
          <a:p>
            <a:pPr algn="just" marL="496566" indent="-248283" lvl="1">
              <a:lnSpc>
                <a:spcPts val="3403"/>
              </a:lnSpc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Familiar:</a:t>
            </a:r>
            <a:r>
              <a:rPr lang="en-US" sz="22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 Monitorea la salud y recibe alertas. </a:t>
            </a:r>
          </a:p>
          <a:p>
            <a:pPr algn="just">
              <a:lnSpc>
                <a:spcPts val="3403"/>
              </a:lnSpc>
            </a:pPr>
          </a:p>
          <a:p>
            <a:pPr algn="just" marL="496566" indent="-248283" lvl="1">
              <a:lnSpc>
                <a:spcPts val="3403"/>
              </a:lnSpc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Cuidador:</a:t>
            </a:r>
            <a:r>
              <a:rPr lang="en-US" sz="22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 Administra el cuidado cotidiano y registra antecedentes médicos. </a:t>
            </a:r>
          </a:p>
          <a:p>
            <a:pPr algn="just">
              <a:lnSpc>
                <a:spcPts val="3403"/>
              </a:lnSpc>
            </a:pPr>
          </a:p>
          <a:p>
            <a:pPr algn="just" marL="496566" indent="-248283" lvl="1">
              <a:lnSpc>
                <a:spcPts val="3403"/>
              </a:lnSpc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Médico:</a:t>
            </a:r>
            <a:r>
              <a:rPr lang="en-US" sz="22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 Gestiona prescripciones y planes farmacológicos. </a:t>
            </a:r>
          </a:p>
          <a:p>
            <a:pPr algn="just">
              <a:lnSpc>
                <a:spcPts val="3403"/>
              </a:lnSpc>
            </a:pPr>
          </a:p>
          <a:p>
            <a:pPr algn="just" marL="496566" indent="-248283" lvl="1">
              <a:lnSpc>
                <a:spcPts val="340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Adulto mayor:</a:t>
            </a:r>
            <a:r>
              <a:rPr lang="en-US" sz="22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 Accede a una interfaz accesible guiada por voz con actividades estimulantes.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681314" y="1028700"/>
            <a:ext cx="6769510" cy="9258300"/>
          </a:xfrm>
          <a:custGeom>
            <a:avLst/>
            <a:gdLst/>
            <a:ahLst/>
            <a:cxnLst/>
            <a:rect r="r" b="b" t="t" l="l"/>
            <a:pathLst>
              <a:path h="9258300" w="6769510">
                <a:moveTo>
                  <a:pt x="0" y="0"/>
                </a:moveTo>
                <a:lnTo>
                  <a:pt x="6769510" y="0"/>
                </a:lnTo>
                <a:lnTo>
                  <a:pt x="676951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757339"/>
            <a:ext cx="3617093" cy="4500961"/>
            <a:chOff x="0" y="0"/>
            <a:chExt cx="952650" cy="1185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2650" cy="1185438"/>
            </a:xfrm>
            <a:custGeom>
              <a:avLst/>
              <a:gdLst/>
              <a:ahLst/>
              <a:cxnLst/>
              <a:rect r="r" b="b" t="t" l="l"/>
              <a:pathLst>
                <a:path h="1185438" w="952650">
                  <a:moveTo>
                    <a:pt x="0" y="0"/>
                  </a:moveTo>
                  <a:lnTo>
                    <a:pt x="952650" y="0"/>
                  </a:lnTo>
                  <a:lnTo>
                    <a:pt x="952650" y="1185438"/>
                  </a:lnTo>
                  <a:lnTo>
                    <a:pt x="0" y="1185438"/>
                  </a:lnTo>
                  <a:close/>
                </a:path>
              </a:pathLst>
            </a:custGeom>
            <a:solidFill>
              <a:srgbClr val="F9EED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52650" cy="1223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19703" y="4757339"/>
            <a:ext cx="3617093" cy="4500961"/>
            <a:chOff x="0" y="0"/>
            <a:chExt cx="952650" cy="11854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2650" cy="1185438"/>
            </a:xfrm>
            <a:custGeom>
              <a:avLst/>
              <a:gdLst/>
              <a:ahLst/>
              <a:cxnLst/>
              <a:rect r="r" b="b" t="t" l="l"/>
              <a:pathLst>
                <a:path h="1185438" w="952650">
                  <a:moveTo>
                    <a:pt x="0" y="0"/>
                  </a:moveTo>
                  <a:lnTo>
                    <a:pt x="952650" y="0"/>
                  </a:lnTo>
                  <a:lnTo>
                    <a:pt x="952650" y="1185438"/>
                  </a:lnTo>
                  <a:lnTo>
                    <a:pt x="0" y="1185438"/>
                  </a:lnTo>
                  <a:close/>
                </a:path>
              </a:pathLst>
            </a:custGeom>
            <a:solidFill>
              <a:srgbClr val="F9E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52650" cy="1223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78078" y="4757339"/>
            <a:ext cx="3617093" cy="4500961"/>
            <a:chOff x="0" y="0"/>
            <a:chExt cx="952650" cy="11854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2650" cy="1185438"/>
            </a:xfrm>
            <a:custGeom>
              <a:avLst/>
              <a:gdLst/>
              <a:ahLst/>
              <a:cxnLst/>
              <a:rect r="r" b="b" t="t" l="l"/>
              <a:pathLst>
                <a:path h="1185438" w="952650">
                  <a:moveTo>
                    <a:pt x="0" y="0"/>
                  </a:moveTo>
                  <a:lnTo>
                    <a:pt x="952650" y="0"/>
                  </a:lnTo>
                  <a:lnTo>
                    <a:pt x="952650" y="1185438"/>
                  </a:lnTo>
                  <a:lnTo>
                    <a:pt x="0" y="1185438"/>
                  </a:lnTo>
                  <a:close/>
                </a:path>
              </a:pathLst>
            </a:custGeom>
            <a:solidFill>
              <a:srgbClr val="F9EED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52650" cy="1223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42207" y="4757339"/>
            <a:ext cx="3617093" cy="4500961"/>
            <a:chOff x="0" y="0"/>
            <a:chExt cx="952650" cy="11854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2650" cy="1185438"/>
            </a:xfrm>
            <a:custGeom>
              <a:avLst/>
              <a:gdLst/>
              <a:ahLst/>
              <a:cxnLst/>
              <a:rect r="r" b="b" t="t" l="l"/>
              <a:pathLst>
                <a:path h="1185438" w="952650">
                  <a:moveTo>
                    <a:pt x="0" y="0"/>
                  </a:moveTo>
                  <a:lnTo>
                    <a:pt x="952650" y="0"/>
                  </a:lnTo>
                  <a:lnTo>
                    <a:pt x="952650" y="1185438"/>
                  </a:lnTo>
                  <a:lnTo>
                    <a:pt x="0" y="1185438"/>
                  </a:lnTo>
                  <a:close/>
                </a:path>
              </a:pathLst>
            </a:custGeom>
            <a:solidFill>
              <a:srgbClr val="F9EED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52650" cy="1223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94196" y="4944299"/>
            <a:ext cx="3086100" cy="2256596"/>
            <a:chOff x="0" y="0"/>
            <a:chExt cx="812800" cy="5943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594330"/>
            </a:xfrm>
            <a:custGeom>
              <a:avLst/>
              <a:gdLst/>
              <a:ahLst/>
              <a:cxnLst/>
              <a:rect r="r" b="b" t="t" l="l"/>
              <a:pathLst>
                <a:path h="59433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66389"/>
                  </a:lnTo>
                  <a:cubicBezTo>
                    <a:pt x="812800" y="500321"/>
                    <a:pt x="799321" y="532863"/>
                    <a:pt x="775327" y="556857"/>
                  </a:cubicBezTo>
                  <a:cubicBezTo>
                    <a:pt x="751333" y="580850"/>
                    <a:pt x="718791" y="594330"/>
                    <a:pt x="684859" y="594330"/>
                  </a:cubicBezTo>
                  <a:lnTo>
                    <a:pt x="127941" y="594330"/>
                  </a:lnTo>
                  <a:cubicBezTo>
                    <a:pt x="94009" y="594330"/>
                    <a:pt x="61467" y="580850"/>
                    <a:pt x="37473" y="556857"/>
                  </a:cubicBezTo>
                  <a:cubicBezTo>
                    <a:pt x="13479" y="532863"/>
                    <a:pt x="0" y="500321"/>
                    <a:pt x="0" y="46638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B7B1F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632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5199" y="4944299"/>
            <a:ext cx="3086100" cy="2256596"/>
            <a:chOff x="0" y="0"/>
            <a:chExt cx="812800" cy="5943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594330"/>
            </a:xfrm>
            <a:custGeom>
              <a:avLst/>
              <a:gdLst/>
              <a:ahLst/>
              <a:cxnLst/>
              <a:rect r="r" b="b" t="t" l="l"/>
              <a:pathLst>
                <a:path h="59433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66389"/>
                  </a:lnTo>
                  <a:cubicBezTo>
                    <a:pt x="812800" y="500321"/>
                    <a:pt x="799321" y="532863"/>
                    <a:pt x="775327" y="556857"/>
                  </a:cubicBezTo>
                  <a:cubicBezTo>
                    <a:pt x="751333" y="580850"/>
                    <a:pt x="718791" y="594330"/>
                    <a:pt x="684859" y="594330"/>
                  </a:cubicBezTo>
                  <a:lnTo>
                    <a:pt x="127941" y="594330"/>
                  </a:lnTo>
                  <a:cubicBezTo>
                    <a:pt x="94009" y="594330"/>
                    <a:pt x="61467" y="580850"/>
                    <a:pt x="37473" y="556857"/>
                  </a:cubicBezTo>
                  <a:cubicBezTo>
                    <a:pt x="13479" y="532863"/>
                    <a:pt x="0" y="500321"/>
                    <a:pt x="0" y="46638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B7B1F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632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43574" y="4944299"/>
            <a:ext cx="3086100" cy="2256596"/>
            <a:chOff x="0" y="0"/>
            <a:chExt cx="812800" cy="5943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594330"/>
            </a:xfrm>
            <a:custGeom>
              <a:avLst/>
              <a:gdLst/>
              <a:ahLst/>
              <a:cxnLst/>
              <a:rect r="r" b="b" t="t" l="l"/>
              <a:pathLst>
                <a:path h="59433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66389"/>
                  </a:lnTo>
                  <a:cubicBezTo>
                    <a:pt x="812800" y="500321"/>
                    <a:pt x="799321" y="532863"/>
                    <a:pt x="775327" y="556857"/>
                  </a:cubicBezTo>
                  <a:cubicBezTo>
                    <a:pt x="751333" y="580850"/>
                    <a:pt x="718791" y="594330"/>
                    <a:pt x="684859" y="594330"/>
                  </a:cubicBezTo>
                  <a:lnTo>
                    <a:pt x="127941" y="594330"/>
                  </a:lnTo>
                  <a:cubicBezTo>
                    <a:pt x="94009" y="594330"/>
                    <a:pt x="61467" y="580850"/>
                    <a:pt x="37473" y="556857"/>
                  </a:cubicBezTo>
                  <a:cubicBezTo>
                    <a:pt x="13479" y="532863"/>
                    <a:pt x="0" y="500321"/>
                    <a:pt x="0" y="46638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B7B1F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12800" cy="632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907704" y="4944299"/>
            <a:ext cx="3086100" cy="2256596"/>
            <a:chOff x="0" y="0"/>
            <a:chExt cx="812800" cy="5943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594330"/>
            </a:xfrm>
            <a:custGeom>
              <a:avLst/>
              <a:gdLst/>
              <a:ahLst/>
              <a:cxnLst/>
              <a:rect r="r" b="b" t="t" l="l"/>
              <a:pathLst>
                <a:path h="59433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66389"/>
                  </a:lnTo>
                  <a:cubicBezTo>
                    <a:pt x="812800" y="500321"/>
                    <a:pt x="799321" y="532863"/>
                    <a:pt x="775327" y="556857"/>
                  </a:cubicBezTo>
                  <a:cubicBezTo>
                    <a:pt x="751333" y="580850"/>
                    <a:pt x="718791" y="594330"/>
                    <a:pt x="684859" y="594330"/>
                  </a:cubicBezTo>
                  <a:lnTo>
                    <a:pt x="127941" y="594330"/>
                  </a:lnTo>
                  <a:cubicBezTo>
                    <a:pt x="94009" y="594330"/>
                    <a:pt x="61467" y="580850"/>
                    <a:pt x="37473" y="556857"/>
                  </a:cubicBezTo>
                  <a:cubicBezTo>
                    <a:pt x="13479" y="532863"/>
                    <a:pt x="0" y="500321"/>
                    <a:pt x="0" y="46638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B7B1F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12800" cy="632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28700" y="933450"/>
            <a:ext cx="14196591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B7B1F4"/>
                </a:solidFill>
                <a:latin typeface="Nunito Bold"/>
                <a:ea typeface="Nunito Bold"/>
                <a:cs typeface="Nunito Bold"/>
                <a:sym typeface="Nunito Bold"/>
              </a:rPr>
              <a:t>OBJETIVO GENERAL DE LA PLATAFORMA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53391" y="2400727"/>
            <a:ext cx="14196591" cy="1261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3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Desarr</a:t>
            </a:r>
            <a:r>
              <a:rPr lang="en-US" sz="2299" u="non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ollar una plataforma integral de cuidado de adultos mayores que centralice salud, alertas y comunicación entre familiares, cuidadores, médicos y el paciente, brindando información en tiempo real a las familias y un entorno accesible para mantener al adulto mayor activo y acompañado.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1997521">
            <a:off x="12388002" y="-7565478"/>
            <a:ext cx="11799995" cy="11114034"/>
          </a:xfrm>
          <a:custGeom>
            <a:avLst/>
            <a:gdLst/>
            <a:ahLst/>
            <a:cxnLst/>
            <a:rect r="r" b="b" t="t" l="l"/>
            <a:pathLst>
              <a:path h="11114034" w="11799995">
                <a:moveTo>
                  <a:pt x="0" y="0"/>
                </a:moveTo>
                <a:lnTo>
                  <a:pt x="11799996" y="0"/>
                </a:lnTo>
                <a:lnTo>
                  <a:pt x="11799996" y="11114034"/>
                </a:lnTo>
                <a:lnTo>
                  <a:pt x="0" y="11114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2285206" y="5395247"/>
            <a:ext cx="1104080" cy="1354700"/>
          </a:xfrm>
          <a:custGeom>
            <a:avLst/>
            <a:gdLst/>
            <a:ahLst/>
            <a:cxnLst/>
            <a:rect r="r" b="b" t="t" l="l"/>
            <a:pathLst>
              <a:path h="1354700" w="1104080">
                <a:moveTo>
                  <a:pt x="0" y="0"/>
                </a:moveTo>
                <a:lnTo>
                  <a:pt x="1104081" y="0"/>
                </a:lnTo>
                <a:lnTo>
                  <a:pt x="1104081" y="1354700"/>
                </a:lnTo>
                <a:lnTo>
                  <a:pt x="0" y="1354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381752" y="5426099"/>
            <a:ext cx="1292996" cy="1292996"/>
          </a:xfrm>
          <a:custGeom>
            <a:avLst/>
            <a:gdLst/>
            <a:ahLst/>
            <a:cxnLst/>
            <a:rect r="r" b="b" t="t" l="l"/>
            <a:pathLst>
              <a:path h="1292996" w="1292996">
                <a:moveTo>
                  <a:pt x="0" y="0"/>
                </a:moveTo>
                <a:lnTo>
                  <a:pt x="1292995" y="0"/>
                </a:lnTo>
                <a:lnTo>
                  <a:pt x="1292995" y="1292995"/>
                </a:lnTo>
                <a:lnTo>
                  <a:pt x="0" y="12929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399363" y="5529660"/>
            <a:ext cx="1374522" cy="1085872"/>
          </a:xfrm>
          <a:custGeom>
            <a:avLst/>
            <a:gdLst/>
            <a:ahLst/>
            <a:cxnLst/>
            <a:rect r="r" b="b" t="t" l="l"/>
            <a:pathLst>
              <a:path h="1085872" w="1374522">
                <a:moveTo>
                  <a:pt x="0" y="0"/>
                </a:moveTo>
                <a:lnTo>
                  <a:pt x="1374522" y="0"/>
                </a:lnTo>
                <a:lnTo>
                  <a:pt x="1374522" y="1085873"/>
                </a:lnTo>
                <a:lnTo>
                  <a:pt x="0" y="10858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804256" y="5487516"/>
            <a:ext cx="1292996" cy="1170161"/>
          </a:xfrm>
          <a:custGeom>
            <a:avLst/>
            <a:gdLst/>
            <a:ahLst/>
            <a:cxnLst/>
            <a:rect r="r" b="b" t="t" l="l"/>
            <a:pathLst>
              <a:path h="1170161" w="1292996">
                <a:moveTo>
                  <a:pt x="0" y="0"/>
                </a:moveTo>
                <a:lnTo>
                  <a:pt x="1292996" y="0"/>
                </a:lnTo>
                <a:lnTo>
                  <a:pt x="1292996" y="1170161"/>
                </a:lnTo>
                <a:lnTo>
                  <a:pt x="0" y="11701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294196" y="7990646"/>
            <a:ext cx="3086100" cy="403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sz="23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Monitoreo y alertas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485199" y="7785858"/>
            <a:ext cx="3086100" cy="83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sz="23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Coordinacion y comunicacion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43574" y="7785858"/>
            <a:ext cx="3086100" cy="83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3"/>
              </a:lnSpc>
            </a:pPr>
            <a:r>
              <a:rPr lang="en-US" sz="22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Familia, cuidador y médico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907704" y="7785858"/>
            <a:ext cx="3086100" cy="83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3"/>
              </a:lnSpc>
            </a:pPr>
            <a:r>
              <a:rPr lang="en-US" sz="22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Adulto mayor</a:t>
            </a:r>
          </a:p>
          <a:p>
            <a:pPr algn="ctr">
              <a:lnSpc>
                <a:spcPts val="3403"/>
              </a:lnSpc>
            </a:pPr>
            <a:r>
              <a:rPr lang="en-US" sz="22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activo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804617" y="5036198"/>
            <a:ext cx="2065259" cy="2072796"/>
          </a:xfrm>
          <a:custGeom>
            <a:avLst/>
            <a:gdLst/>
            <a:ahLst/>
            <a:cxnLst/>
            <a:rect r="r" b="b" t="t" l="l"/>
            <a:pathLst>
              <a:path h="2072796" w="2065259">
                <a:moveTo>
                  <a:pt x="0" y="0"/>
                </a:moveTo>
                <a:lnTo>
                  <a:pt x="2065259" y="0"/>
                </a:lnTo>
                <a:lnTo>
                  <a:pt x="2065259" y="2072797"/>
                </a:lnTo>
                <a:lnTo>
                  <a:pt x="0" y="20727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5995620" y="5036198"/>
            <a:ext cx="2065259" cy="2072796"/>
          </a:xfrm>
          <a:custGeom>
            <a:avLst/>
            <a:gdLst/>
            <a:ahLst/>
            <a:cxnLst/>
            <a:rect r="r" b="b" t="t" l="l"/>
            <a:pathLst>
              <a:path h="2072796" w="2065259">
                <a:moveTo>
                  <a:pt x="0" y="0"/>
                </a:moveTo>
                <a:lnTo>
                  <a:pt x="2065259" y="0"/>
                </a:lnTo>
                <a:lnTo>
                  <a:pt x="2065259" y="2072797"/>
                </a:lnTo>
                <a:lnTo>
                  <a:pt x="0" y="20727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4418124" y="5036198"/>
            <a:ext cx="2065259" cy="2072796"/>
          </a:xfrm>
          <a:custGeom>
            <a:avLst/>
            <a:gdLst/>
            <a:ahLst/>
            <a:cxnLst/>
            <a:rect r="r" b="b" t="t" l="l"/>
            <a:pathLst>
              <a:path h="2072796" w="2065259">
                <a:moveTo>
                  <a:pt x="0" y="0"/>
                </a:moveTo>
                <a:lnTo>
                  <a:pt x="2065259" y="0"/>
                </a:lnTo>
                <a:lnTo>
                  <a:pt x="2065259" y="2072797"/>
                </a:lnTo>
                <a:lnTo>
                  <a:pt x="0" y="20727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0053995" y="5036198"/>
            <a:ext cx="2065259" cy="2072796"/>
          </a:xfrm>
          <a:custGeom>
            <a:avLst/>
            <a:gdLst/>
            <a:ahLst/>
            <a:cxnLst/>
            <a:rect r="r" b="b" t="t" l="l"/>
            <a:pathLst>
              <a:path h="2072796" w="2065259">
                <a:moveTo>
                  <a:pt x="0" y="0"/>
                </a:moveTo>
                <a:lnTo>
                  <a:pt x="2065259" y="0"/>
                </a:lnTo>
                <a:lnTo>
                  <a:pt x="2065259" y="2072797"/>
                </a:lnTo>
                <a:lnTo>
                  <a:pt x="0" y="207279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9262" y="1769044"/>
            <a:ext cx="17129476" cy="7917894"/>
            <a:chOff x="0" y="0"/>
            <a:chExt cx="4511467" cy="20853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1467" cy="2085371"/>
            </a:xfrm>
            <a:custGeom>
              <a:avLst/>
              <a:gdLst/>
              <a:ahLst/>
              <a:cxnLst/>
              <a:rect r="r" b="b" t="t" l="l"/>
              <a:pathLst>
                <a:path h="2085371" w="4511467">
                  <a:moveTo>
                    <a:pt x="23050" y="0"/>
                  </a:moveTo>
                  <a:lnTo>
                    <a:pt x="4488417" y="0"/>
                  </a:lnTo>
                  <a:cubicBezTo>
                    <a:pt x="4494530" y="0"/>
                    <a:pt x="4500393" y="2428"/>
                    <a:pt x="4504716" y="6751"/>
                  </a:cubicBezTo>
                  <a:cubicBezTo>
                    <a:pt x="4509038" y="11074"/>
                    <a:pt x="4511467" y="16937"/>
                    <a:pt x="4511467" y="23050"/>
                  </a:cubicBezTo>
                  <a:lnTo>
                    <a:pt x="4511467" y="2062321"/>
                  </a:lnTo>
                  <a:cubicBezTo>
                    <a:pt x="4511467" y="2068434"/>
                    <a:pt x="4509038" y="2074297"/>
                    <a:pt x="4504716" y="2078620"/>
                  </a:cubicBezTo>
                  <a:cubicBezTo>
                    <a:pt x="4500393" y="2082943"/>
                    <a:pt x="4494530" y="2085371"/>
                    <a:pt x="4488417" y="2085371"/>
                  </a:cubicBezTo>
                  <a:lnTo>
                    <a:pt x="23050" y="2085371"/>
                  </a:lnTo>
                  <a:cubicBezTo>
                    <a:pt x="16937" y="2085371"/>
                    <a:pt x="11074" y="2082943"/>
                    <a:pt x="6751" y="2078620"/>
                  </a:cubicBezTo>
                  <a:cubicBezTo>
                    <a:pt x="2428" y="2074297"/>
                    <a:pt x="0" y="2068434"/>
                    <a:pt x="0" y="2062321"/>
                  </a:cubicBezTo>
                  <a:lnTo>
                    <a:pt x="0" y="23050"/>
                  </a:lnTo>
                  <a:cubicBezTo>
                    <a:pt x="0" y="16937"/>
                    <a:pt x="2428" y="11074"/>
                    <a:pt x="6751" y="6751"/>
                  </a:cubicBezTo>
                  <a:cubicBezTo>
                    <a:pt x="11074" y="2428"/>
                    <a:pt x="16937" y="0"/>
                    <a:pt x="23050" y="0"/>
                  </a:cubicBezTo>
                  <a:close/>
                </a:path>
              </a:pathLst>
            </a:custGeom>
            <a:solidFill>
              <a:srgbClr val="9F73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4511467" cy="2056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0699" y="2763772"/>
            <a:ext cx="3690188" cy="2597938"/>
            <a:chOff x="0" y="0"/>
            <a:chExt cx="635000" cy="4470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" cy="447048"/>
            </a:xfrm>
            <a:custGeom>
              <a:avLst/>
              <a:gdLst/>
              <a:ahLst/>
              <a:cxnLst/>
              <a:rect r="r" b="b" t="t" l="l"/>
              <a:pathLst>
                <a:path h="447048" w="635000">
                  <a:moveTo>
                    <a:pt x="40976" y="0"/>
                  </a:moveTo>
                  <a:lnTo>
                    <a:pt x="594024" y="0"/>
                  </a:lnTo>
                  <a:cubicBezTo>
                    <a:pt x="616654" y="0"/>
                    <a:pt x="635000" y="18346"/>
                    <a:pt x="635000" y="40976"/>
                  </a:cubicBezTo>
                  <a:lnTo>
                    <a:pt x="635000" y="406072"/>
                  </a:lnTo>
                  <a:cubicBezTo>
                    <a:pt x="635000" y="428702"/>
                    <a:pt x="616654" y="447048"/>
                    <a:pt x="594024" y="447048"/>
                  </a:cubicBezTo>
                  <a:lnTo>
                    <a:pt x="40976" y="447048"/>
                  </a:lnTo>
                  <a:cubicBezTo>
                    <a:pt x="18346" y="447048"/>
                    <a:pt x="0" y="428702"/>
                    <a:pt x="0" y="406072"/>
                  </a:cubicBezTo>
                  <a:lnTo>
                    <a:pt x="0" y="40976"/>
                  </a:lnTo>
                  <a:cubicBezTo>
                    <a:pt x="0" y="18346"/>
                    <a:pt x="18346" y="0"/>
                    <a:pt x="40976" y="0"/>
                  </a:cubicBezTo>
                  <a:close/>
                </a:path>
              </a:pathLst>
            </a:custGeom>
            <a:solidFill>
              <a:srgbClr val="B7B1F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635000" cy="418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98"/>
                </a:lnSpc>
              </a:pPr>
              <a:r>
                <a:rPr lang="en-US" b="true" sz="2299" i="true" spc="-45">
                  <a:solidFill>
                    <a:srgbClr val="000000"/>
                  </a:solidFill>
                  <a:latin typeface="Nunito Sans Bold Italics"/>
                  <a:ea typeface="Nunito Sans Bold Italics"/>
                  <a:cs typeface="Nunito Sans Bold Italics"/>
                  <a:sym typeface="Nunito Sans Bold Italics"/>
                </a:rPr>
                <a:t>Expediente único</a:t>
              </a:r>
            </a:p>
            <a:p>
              <a:pPr algn="l">
                <a:lnSpc>
                  <a:spcPts val="2598"/>
                </a:lnSpc>
              </a:pPr>
            </a:p>
            <a:p>
              <a:pPr algn="l">
                <a:lnSpc>
                  <a:spcPts val="2598"/>
                </a:lnSpc>
              </a:pPr>
              <a:r>
                <a:rPr lang="en-US" sz="2299" spc="-45">
                  <a:solidFill>
                    <a:srgbClr val="00000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Salud consolidada con semáforo de bienestar y soporte multi-paciente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72837" y="2763772"/>
            <a:ext cx="3690188" cy="2597938"/>
            <a:chOff x="0" y="0"/>
            <a:chExt cx="635000" cy="4470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" cy="447048"/>
            </a:xfrm>
            <a:custGeom>
              <a:avLst/>
              <a:gdLst/>
              <a:ahLst/>
              <a:cxnLst/>
              <a:rect r="r" b="b" t="t" l="l"/>
              <a:pathLst>
                <a:path h="447048" w="635000">
                  <a:moveTo>
                    <a:pt x="40976" y="0"/>
                  </a:moveTo>
                  <a:lnTo>
                    <a:pt x="594024" y="0"/>
                  </a:lnTo>
                  <a:cubicBezTo>
                    <a:pt x="616654" y="0"/>
                    <a:pt x="635000" y="18346"/>
                    <a:pt x="635000" y="40976"/>
                  </a:cubicBezTo>
                  <a:lnTo>
                    <a:pt x="635000" y="406072"/>
                  </a:lnTo>
                  <a:cubicBezTo>
                    <a:pt x="635000" y="428702"/>
                    <a:pt x="616654" y="447048"/>
                    <a:pt x="594024" y="447048"/>
                  </a:cubicBezTo>
                  <a:lnTo>
                    <a:pt x="40976" y="447048"/>
                  </a:lnTo>
                  <a:cubicBezTo>
                    <a:pt x="18346" y="447048"/>
                    <a:pt x="0" y="428702"/>
                    <a:pt x="0" y="406072"/>
                  </a:cubicBezTo>
                  <a:lnTo>
                    <a:pt x="0" y="40976"/>
                  </a:lnTo>
                  <a:cubicBezTo>
                    <a:pt x="0" y="18346"/>
                    <a:pt x="18346" y="0"/>
                    <a:pt x="40976" y="0"/>
                  </a:cubicBezTo>
                  <a:close/>
                </a:path>
              </a:pathLst>
            </a:custGeom>
            <a:solidFill>
              <a:srgbClr val="EA983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635000" cy="418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98"/>
                </a:lnSpc>
              </a:pPr>
              <a:r>
                <a:rPr lang="en-US" b="true" sz="2299" i="true" spc="-45">
                  <a:solidFill>
                    <a:srgbClr val="000000"/>
                  </a:solidFill>
                  <a:latin typeface="Nunito Sans Bold Italics"/>
                  <a:ea typeface="Nunito Sans Bold Italics"/>
                  <a:cs typeface="Nunito Sans Bold Italics"/>
                  <a:sym typeface="Nunito Sans Bold Italics"/>
                </a:rPr>
                <a:t>Alertas tiempo real</a:t>
              </a:r>
            </a:p>
            <a:p>
              <a:pPr algn="l">
                <a:lnSpc>
                  <a:spcPts val="2598"/>
                </a:lnSpc>
              </a:pPr>
            </a:p>
            <a:p>
              <a:pPr algn="l">
                <a:lnSpc>
                  <a:spcPts val="2598"/>
                </a:lnSpc>
              </a:pPr>
              <a:r>
                <a:rPr lang="en-US" sz="2299" spc="-45">
                  <a:solidFill>
                    <a:srgbClr val="00000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Caídas, signos vitales fuera de rango, medicación no tomada, botón SOS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24975" y="2763772"/>
            <a:ext cx="3690188" cy="2597938"/>
            <a:chOff x="0" y="0"/>
            <a:chExt cx="635000" cy="4470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" cy="447048"/>
            </a:xfrm>
            <a:custGeom>
              <a:avLst/>
              <a:gdLst/>
              <a:ahLst/>
              <a:cxnLst/>
              <a:rect r="r" b="b" t="t" l="l"/>
              <a:pathLst>
                <a:path h="447048" w="635000">
                  <a:moveTo>
                    <a:pt x="40976" y="0"/>
                  </a:moveTo>
                  <a:lnTo>
                    <a:pt x="594024" y="0"/>
                  </a:lnTo>
                  <a:cubicBezTo>
                    <a:pt x="616654" y="0"/>
                    <a:pt x="635000" y="18346"/>
                    <a:pt x="635000" y="40976"/>
                  </a:cubicBezTo>
                  <a:lnTo>
                    <a:pt x="635000" y="406072"/>
                  </a:lnTo>
                  <a:cubicBezTo>
                    <a:pt x="635000" y="428702"/>
                    <a:pt x="616654" y="447048"/>
                    <a:pt x="594024" y="447048"/>
                  </a:cubicBezTo>
                  <a:lnTo>
                    <a:pt x="40976" y="447048"/>
                  </a:lnTo>
                  <a:cubicBezTo>
                    <a:pt x="18346" y="447048"/>
                    <a:pt x="0" y="428702"/>
                    <a:pt x="0" y="406072"/>
                  </a:cubicBezTo>
                  <a:lnTo>
                    <a:pt x="0" y="40976"/>
                  </a:lnTo>
                  <a:cubicBezTo>
                    <a:pt x="0" y="18346"/>
                    <a:pt x="18346" y="0"/>
                    <a:pt x="40976" y="0"/>
                  </a:cubicBezTo>
                  <a:close/>
                </a:path>
              </a:pathLst>
            </a:custGeom>
            <a:solidFill>
              <a:srgbClr val="F4D48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635000" cy="418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98"/>
                </a:lnSpc>
              </a:pPr>
              <a:r>
                <a:rPr lang="en-US" b="true" sz="2299" i="true" spc="-45">
                  <a:solidFill>
                    <a:srgbClr val="000000"/>
                  </a:solidFill>
                  <a:latin typeface="Nunito Sans Bold Italics"/>
                  <a:ea typeface="Nunito Sans Bold Italics"/>
                  <a:cs typeface="Nunito Sans Bold Italics"/>
                  <a:sym typeface="Nunito Sans Bold Italics"/>
                </a:rPr>
                <a:t>Ciclo de medicación</a:t>
              </a:r>
            </a:p>
            <a:p>
              <a:pPr algn="l">
                <a:lnSpc>
                  <a:spcPts val="2598"/>
                </a:lnSpc>
              </a:pPr>
            </a:p>
            <a:p>
              <a:pPr algn="l">
                <a:lnSpc>
                  <a:spcPts val="2598"/>
                </a:lnSpc>
              </a:pPr>
              <a:r>
                <a:rPr lang="en-US" sz="2299" spc="-45">
                  <a:solidFill>
                    <a:srgbClr val="00000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Plan, OCR de recetas, alarmas de tomas y adherencia visible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377113" y="2763772"/>
            <a:ext cx="3690188" cy="2597938"/>
            <a:chOff x="0" y="0"/>
            <a:chExt cx="635000" cy="4470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" cy="447048"/>
            </a:xfrm>
            <a:custGeom>
              <a:avLst/>
              <a:gdLst/>
              <a:ahLst/>
              <a:cxnLst/>
              <a:rect r="r" b="b" t="t" l="l"/>
              <a:pathLst>
                <a:path h="447048" w="635000">
                  <a:moveTo>
                    <a:pt x="40976" y="0"/>
                  </a:moveTo>
                  <a:lnTo>
                    <a:pt x="594024" y="0"/>
                  </a:lnTo>
                  <a:cubicBezTo>
                    <a:pt x="616654" y="0"/>
                    <a:pt x="635000" y="18346"/>
                    <a:pt x="635000" y="40976"/>
                  </a:cubicBezTo>
                  <a:lnTo>
                    <a:pt x="635000" y="406072"/>
                  </a:lnTo>
                  <a:cubicBezTo>
                    <a:pt x="635000" y="428702"/>
                    <a:pt x="616654" y="447048"/>
                    <a:pt x="594024" y="447048"/>
                  </a:cubicBezTo>
                  <a:lnTo>
                    <a:pt x="40976" y="447048"/>
                  </a:lnTo>
                  <a:cubicBezTo>
                    <a:pt x="18346" y="447048"/>
                    <a:pt x="0" y="428702"/>
                    <a:pt x="0" y="406072"/>
                  </a:cubicBezTo>
                  <a:lnTo>
                    <a:pt x="0" y="40976"/>
                  </a:lnTo>
                  <a:cubicBezTo>
                    <a:pt x="0" y="18346"/>
                    <a:pt x="18346" y="0"/>
                    <a:pt x="40976" y="0"/>
                  </a:cubicBezTo>
                  <a:close/>
                </a:path>
              </a:pathLst>
            </a:custGeom>
            <a:solidFill>
              <a:srgbClr val="F9EED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635000" cy="418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98"/>
                </a:lnSpc>
              </a:pPr>
              <a:r>
                <a:rPr lang="en-US" b="true" sz="2299" i="true" spc="-45">
                  <a:solidFill>
                    <a:srgbClr val="000000"/>
                  </a:solidFill>
                  <a:latin typeface="Nunito Sans Bold Italics"/>
                  <a:ea typeface="Nunito Sans Bold Italics"/>
                  <a:cs typeface="Nunito Sans Bold Italics"/>
                  <a:sym typeface="Nunito Sans Bold Italics"/>
                </a:rPr>
                <a:t>Comunicación + IA</a:t>
              </a:r>
            </a:p>
            <a:p>
              <a:pPr algn="l">
                <a:lnSpc>
                  <a:spcPts val="2598"/>
                </a:lnSpc>
              </a:pPr>
            </a:p>
            <a:p>
              <a:pPr algn="l">
                <a:lnSpc>
                  <a:spcPts val="2598"/>
                </a:lnSpc>
              </a:pPr>
              <a:r>
                <a:rPr lang="en-US" sz="2299" spc="-45">
                  <a:solidFill>
                    <a:srgbClr val="00000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Chat contextual y asistente que interpreta el expediente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0699" y="5990164"/>
            <a:ext cx="3690188" cy="2597938"/>
            <a:chOff x="0" y="0"/>
            <a:chExt cx="635000" cy="4470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" cy="447048"/>
            </a:xfrm>
            <a:custGeom>
              <a:avLst/>
              <a:gdLst/>
              <a:ahLst/>
              <a:cxnLst/>
              <a:rect r="r" b="b" t="t" l="l"/>
              <a:pathLst>
                <a:path h="447048" w="635000">
                  <a:moveTo>
                    <a:pt x="40976" y="0"/>
                  </a:moveTo>
                  <a:lnTo>
                    <a:pt x="594024" y="0"/>
                  </a:lnTo>
                  <a:cubicBezTo>
                    <a:pt x="616654" y="0"/>
                    <a:pt x="635000" y="18346"/>
                    <a:pt x="635000" y="40976"/>
                  </a:cubicBezTo>
                  <a:lnTo>
                    <a:pt x="635000" y="406072"/>
                  </a:lnTo>
                  <a:cubicBezTo>
                    <a:pt x="635000" y="428702"/>
                    <a:pt x="616654" y="447048"/>
                    <a:pt x="594024" y="447048"/>
                  </a:cubicBezTo>
                  <a:lnTo>
                    <a:pt x="40976" y="447048"/>
                  </a:lnTo>
                  <a:cubicBezTo>
                    <a:pt x="18346" y="447048"/>
                    <a:pt x="0" y="428702"/>
                    <a:pt x="0" y="406072"/>
                  </a:cubicBezTo>
                  <a:lnTo>
                    <a:pt x="0" y="40976"/>
                  </a:lnTo>
                  <a:cubicBezTo>
                    <a:pt x="0" y="18346"/>
                    <a:pt x="18346" y="0"/>
                    <a:pt x="40976" y="0"/>
                  </a:cubicBezTo>
                  <a:close/>
                </a:path>
              </a:pathLst>
            </a:custGeom>
            <a:solidFill>
              <a:srgbClr val="F4D48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635000" cy="418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98"/>
                </a:lnSpc>
              </a:pPr>
              <a:r>
                <a:rPr lang="en-US" b="true" sz="2299" i="true" spc="-45">
                  <a:solidFill>
                    <a:srgbClr val="000000"/>
                  </a:solidFill>
                  <a:latin typeface="Nunito Sans Bold Italics"/>
                  <a:ea typeface="Nunito Sans Bold Italics"/>
                  <a:cs typeface="Nunito Sans Bold Italics"/>
                  <a:sym typeface="Nunito Sans Bold Italics"/>
                </a:rPr>
                <a:t>Experiencia adulto mayor</a:t>
              </a:r>
            </a:p>
            <a:p>
              <a:pPr algn="l">
                <a:lnSpc>
                  <a:spcPts val="2598"/>
                </a:lnSpc>
              </a:pPr>
            </a:p>
            <a:p>
              <a:pPr algn="l">
                <a:lnSpc>
                  <a:spcPts val="2598"/>
                </a:lnSpc>
              </a:pPr>
              <a:r>
                <a:rPr lang="en-US" sz="2299" spc="-45">
                  <a:solidFill>
                    <a:srgbClr val="00000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Interfaz de voz, fotos, entretenimiento y Director Musical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272837" y="5990164"/>
            <a:ext cx="3690188" cy="2597938"/>
            <a:chOff x="0" y="0"/>
            <a:chExt cx="635000" cy="4470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" cy="447048"/>
            </a:xfrm>
            <a:custGeom>
              <a:avLst/>
              <a:gdLst/>
              <a:ahLst/>
              <a:cxnLst/>
              <a:rect r="r" b="b" t="t" l="l"/>
              <a:pathLst>
                <a:path h="447048" w="635000">
                  <a:moveTo>
                    <a:pt x="40976" y="0"/>
                  </a:moveTo>
                  <a:lnTo>
                    <a:pt x="594024" y="0"/>
                  </a:lnTo>
                  <a:cubicBezTo>
                    <a:pt x="616654" y="0"/>
                    <a:pt x="635000" y="18346"/>
                    <a:pt x="635000" y="40976"/>
                  </a:cubicBezTo>
                  <a:lnTo>
                    <a:pt x="635000" y="406072"/>
                  </a:lnTo>
                  <a:cubicBezTo>
                    <a:pt x="635000" y="428702"/>
                    <a:pt x="616654" y="447048"/>
                    <a:pt x="594024" y="447048"/>
                  </a:cubicBezTo>
                  <a:lnTo>
                    <a:pt x="40976" y="447048"/>
                  </a:lnTo>
                  <a:cubicBezTo>
                    <a:pt x="18346" y="447048"/>
                    <a:pt x="0" y="428702"/>
                    <a:pt x="0" y="406072"/>
                  </a:cubicBezTo>
                  <a:lnTo>
                    <a:pt x="0" y="40976"/>
                  </a:lnTo>
                  <a:cubicBezTo>
                    <a:pt x="0" y="18346"/>
                    <a:pt x="18346" y="0"/>
                    <a:pt x="40976" y="0"/>
                  </a:cubicBezTo>
                  <a:close/>
                </a:path>
              </a:pathLst>
            </a:custGeom>
            <a:solidFill>
              <a:srgbClr val="F9EED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635000" cy="418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98"/>
                </a:lnSpc>
              </a:pPr>
              <a:r>
                <a:rPr lang="en-US" b="true" sz="2299" i="true" spc="-45">
                  <a:solidFill>
                    <a:srgbClr val="000000"/>
                  </a:solidFill>
                  <a:latin typeface="Nunito Sans Bold Italics"/>
                  <a:ea typeface="Nunito Sans Bold Italics"/>
                  <a:cs typeface="Nunito Sans Bold Italics"/>
                  <a:sym typeface="Nunito Sans Bold Italics"/>
                </a:rPr>
                <a:t>Roles y permiso</a:t>
              </a:r>
            </a:p>
            <a:p>
              <a:pPr algn="l">
                <a:lnSpc>
                  <a:spcPts val="2598"/>
                </a:lnSpc>
              </a:pPr>
            </a:p>
            <a:p>
              <a:pPr algn="l">
                <a:lnSpc>
                  <a:spcPts val="2598"/>
                </a:lnSpc>
              </a:pPr>
              <a:r>
                <a:rPr lang="en-US" sz="2299" spc="-45">
                  <a:solidFill>
                    <a:srgbClr val="00000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Familiar, cuidadora, médico y adulto mayor, cada uno con su vista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24975" y="5990164"/>
            <a:ext cx="3690188" cy="2597938"/>
            <a:chOff x="0" y="0"/>
            <a:chExt cx="635000" cy="4470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" cy="447048"/>
            </a:xfrm>
            <a:custGeom>
              <a:avLst/>
              <a:gdLst/>
              <a:ahLst/>
              <a:cxnLst/>
              <a:rect r="r" b="b" t="t" l="l"/>
              <a:pathLst>
                <a:path h="447048" w="635000">
                  <a:moveTo>
                    <a:pt x="40976" y="0"/>
                  </a:moveTo>
                  <a:lnTo>
                    <a:pt x="594024" y="0"/>
                  </a:lnTo>
                  <a:cubicBezTo>
                    <a:pt x="616654" y="0"/>
                    <a:pt x="635000" y="18346"/>
                    <a:pt x="635000" y="40976"/>
                  </a:cubicBezTo>
                  <a:lnTo>
                    <a:pt x="635000" y="406072"/>
                  </a:lnTo>
                  <a:cubicBezTo>
                    <a:pt x="635000" y="428702"/>
                    <a:pt x="616654" y="447048"/>
                    <a:pt x="594024" y="447048"/>
                  </a:cubicBezTo>
                  <a:lnTo>
                    <a:pt x="40976" y="447048"/>
                  </a:lnTo>
                  <a:cubicBezTo>
                    <a:pt x="18346" y="447048"/>
                    <a:pt x="0" y="428702"/>
                    <a:pt x="0" y="406072"/>
                  </a:cubicBezTo>
                  <a:lnTo>
                    <a:pt x="0" y="40976"/>
                  </a:lnTo>
                  <a:cubicBezTo>
                    <a:pt x="0" y="18346"/>
                    <a:pt x="18346" y="0"/>
                    <a:pt x="40976" y="0"/>
                  </a:cubicBezTo>
                  <a:close/>
                </a:path>
              </a:pathLst>
            </a:custGeom>
            <a:solidFill>
              <a:srgbClr val="B7B1F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635000" cy="418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98"/>
                </a:lnSpc>
              </a:pPr>
              <a:r>
                <a:rPr lang="en-US" b="true" sz="2299" i="true" spc="-45">
                  <a:solidFill>
                    <a:srgbClr val="000000"/>
                  </a:solidFill>
                  <a:latin typeface="Nunito Sans Bold Italics"/>
                  <a:ea typeface="Nunito Sans Bold Italics"/>
                  <a:cs typeface="Nunito Sans Bold Italics"/>
                  <a:sym typeface="Nunito Sans Bold Italics"/>
                </a:rPr>
                <a:t>Modelo freemium</a:t>
              </a:r>
            </a:p>
            <a:p>
              <a:pPr algn="l">
                <a:lnSpc>
                  <a:spcPts val="2598"/>
                </a:lnSpc>
              </a:pPr>
            </a:p>
            <a:p>
              <a:pPr algn="l">
                <a:lnSpc>
                  <a:spcPts val="2598"/>
                </a:lnSpc>
              </a:pPr>
              <a:r>
                <a:rPr lang="en-US" sz="2299" spc="-45">
                  <a:solidFill>
                    <a:srgbClr val="00000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Gratuito en lo esencial, premium para familias, marketplace de apoyo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377113" y="5990164"/>
            <a:ext cx="3690188" cy="2597938"/>
            <a:chOff x="0" y="0"/>
            <a:chExt cx="635000" cy="4470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" cy="447048"/>
            </a:xfrm>
            <a:custGeom>
              <a:avLst/>
              <a:gdLst/>
              <a:ahLst/>
              <a:cxnLst/>
              <a:rect r="r" b="b" t="t" l="l"/>
              <a:pathLst>
                <a:path h="447048" w="635000">
                  <a:moveTo>
                    <a:pt x="40976" y="0"/>
                  </a:moveTo>
                  <a:lnTo>
                    <a:pt x="594024" y="0"/>
                  </a:lnTo>
                  <a:cubicBezTo>
                    <a:pt x="616654" y="0"/>
                    <a:pt x="635000" y="18346"/>
                    <a:pt x="635000" y="40976"/>
                  </a:cubicBezTo>
                  <a:lnTo>
                    <a:pt x="635000" y="406072"/>
                  </a:lnTo>
                  <a:cubicBezTo>
                    <a:pt x="635000" y="428702"/>
                    <a:pt x="616654" y="447048"/>
                    <a:pt x="594024" y="447048"/>
                  </a:cubicBezTo>
                  <a:lnTo>
                    <a:pt x="40976" y="447048"/>
                  </a:lnTo>
                  <a:cubicBezTo>
                    <a:pt x="18346" y="447048"/>
                    <a:pt x="0" y="428702"/>
                    <a:pt x="0" y="406072"/>
                  </a:cubicBezTo>
                  <a:lnTo>
                    <a:pt x="0" y="40976"/>
                  </a:lnTo>
                  <a:cubicBezTo>
                    <a:pt x="0" y="18346"/>
                    <a:pt x="18346" y="0"/>
                    <a:pt x="40976" y="0"/>
                  </a:cubicBezTo>
                  <a:close/>
                </a:path>
              </a:pathLst>
            </a:custGeom>
            <a:solidFill>
              <a:srgbClr val="EA983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28575"/>
              <a:ext cx="635000" cy="418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98"/>
                </a:lnSpc>
              </a:pPr>
              <a:r>
                <a:rPr lang="en-US" b="true" sz="2299" i="true" spc="-45">
                  <a:solidFill>
                    <a:srgbClr val="000000"/>
                  </a:solidFill>
                  <a:latin typeface="Nunito Sans Bold Italics"/>
                  <a:ea typeface="Nunito Sans Bold Italics"/>
                  <a:cs typeface="Nunito Sans Bold Italics"/>
                  <a:sym typeface="Nunito Sans Bold Italics"/>
                </a:rPr>
                <a:t>Seguridad y privacidad</a:t>
              </a:r>
            </a:p>
            <a:p>
              <a:pPr algn="l">
                <a:lnSpc>
                  <a:spcPts val="2598"/>
                </a:lnSpc>
              </a:pPr>
            </a:p>
            <a:p>
              <a:pPr algn="l">
                <a:lnSpc>
                  <a:spcPts val="2598"/>
                </a:lnSpc>
              </a:pPr>
              <a:r>
                <a:rPr lang="en-US" sz="2299" spc="-45">
                  <a:solidFill>
                    <a:srgbClr val="00000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Autenticación robusta, control por roles, nube escalable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25616" y="570548"/>
            <a:ext cx="14196591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B7B1F4"/>
                </a:solidFill>
                <a:latin typeface="Nunito Bold"/>
                <a:ea typeface="Nunito Bold"/>
                <a:cs typeface="Nunito Bold"/>
                <a:sym typeface="Nunito Bold"/>
              </a:rPr>
              <a:t>OBJETIVOS ESPECÍFICOS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70809">
            <a:off x="-375537" y="4108408"/>
            <a:ext cx="20803442" cy="19594089"/>
          </a:xfrm>
          <a:custGeom>
            <a:avLst/>
            <a:gdLst/>
            <a:ahLst/>
            <a:cxnLst/>
            <a:rect r="r" b="b" t="t" l="l"/>
            <a:pathLst>
              <a:path h="19594089" w="20803442">
                <a:moveTo>
                  <a:pt x="0" y="0"/>
                </a:moveTo>
                <a:lnTo>
                  <a:pt x="20803442" y="0"/>
                </a:lnTo>
                <a:lnTo>
                  <a:pt x="20803442" y="19594089"/>
                </a:lnTo>
                <a:lnTo>
                  <a:pt x="0" y="19594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735494" y="1160306"/>
            <a:ext cx="14817011" cy="166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B7B1F4"/>
                </a:solidFill>
                <a:latin typeface="Nunito Bold"/>
                <a:ea typeface="Nunito Bold"/>
                <a:cs typeface="Nunito Bold"/>
                <a:sym typeface="Nunito Bold"/>
              </a:rPr>
              <a:t>APLICACIÓN MÓVIL</a:t>
            </a:r>
          </a:p>
          <a:p>
            <a:pPr algn="l">
              <a:lnSpc>
                <a:spcPts val="671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7762039" y="2206539"/>
            <a:ext cx="9716866" cy="68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4"/>
              </a:lnSpc>
              <a:spcBef>
                <a:spcPct val="0"/>
              </a:spcBef>
            </a:pPr>
            <a:r>
              <a:rPr lang="en-US" sz="2300" u="non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Inicio “Hoy” para el familiar</a:t>
            </a:r>
          </a:p>
          <a:p>
            <a:pPr algn="l" marL="496571" indent="-248285" lvl="1">
              <a:lnSpc>
                <a:spcPts val="3404"/>
              </a:lnSpc>
              <a:buFont typeface="Arial"/>
              <a:buChar char="•"/>
            </a:pPr>
            <a:r>
              <a:rPr lang="en-US" sz="2300" u="non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Semáforo de bienestar, alertas activas, signos vitales, medicamentos del día</a:t>
            </a:r>
          </a:p>
          <a:p>
            <a:pPr algn="l">
              <a:lnSpc>
                <a:spcPts val="3404"/>
              </a:lnSpc>
            </a:pPr>
          </a:p>
          <a:p>
            <a:pPr algn="l">
              <a:lnSpc>
                <a:spcPts val="3404"/>
              </a:lnSpc>
              <a:spcBef>
                <a:spcPct val="0"/>
              </a:spcBef>
            </a:pPr>
            <a:r>
              <a:rPr lang="en-US" sz="2300" u="non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Vista operativa para la cuidadora</a:t>
            </a:r>
          </a:p>
          <a:p>
            <a:pPr algn="l" marL="496571" indent="-248285" lvl="1">
              <a:lnSpc>
                <a:spcPts val="3404"/>
              </a:lnSpc>
              <a:buFont typeface="Arial"/>
              <a:buChar char="•"/>
            </a:pPr>
            <a:r>
              <a:rPr lang="en-US" sz="2300" u="non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Check-in, confirmación de dosis, observaciones, incidentes y relevo de turno</a:t>
            </a:r>
          </a:p>
          <a:p>
            <a:pPr algn="l">
              <a:lnSpc>
                <a:spcPts val="3404"/>
              </a:lnSpc>
            </a:pPr>
          </a:p>
          <a:p>
            <a:pPr algn="l">
              <a:lnSpc>
                <a:spcPts val="3404"/>
              </a:lnSpc>
              <a:spcBef>
                <a:spcPct val="0"/>
              </a:spcBef>
            </a:pPr>
            <a:r>
              <a:rPr lang="en-US" sz="2300" u="non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Alertas de baja latencia</a:t>
            </a:r>
          </a:p>
          <a:p>
            <a:pPr algn="l" marL="496571" indent="-248285" lvl="1">
              <a:lnSpc>
                <a:spcPts val="3404"/>
              </a:lnSpc>
              <a:buFont typeface="Arial"/>
              <a:buChar char="•"/>
            </a:pPr>
            <a:r>
              <a:rPr lang="en-US" sz="2300" u="non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Notificaciones push, flujo crítico de caídas y botón SOS</a:t>
            </a:r>
          </a:p>
          <a:p>
            <a:pPr algn="l">
              <a:lnSpc>
                <a:spcPts val="3404"/>
              </a:lnSpc>
            </a:pPr>
          </a:p>
          <a:p>
            <a:pPr algn="l">
              <a:lnSpc>
                <a:spcPts val="3404"/>
              </a:lnSpc>
              <a:spcBef>
                <a:spcPct val="0"/>
              </a:spcBef>
            </a:pPr>
            <a:r>
              <a:rPr lang="en-US" sz="2300" u="non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Hub de comunicación y vista del adulto mayor</a:t>
            </a:r>
          </a:p>
          <a:p>
            <a:pPr algn="l" marL="496571" indent="-248285" lvl="1">
              <a:lnSpc>
                <a:spcPts val="3404"/>
              </a:lnSpc>
              <a:buFont typeface="Arial"/>
              <a:buChar char="•"/>
            </a:pPr>
            <a:r>
              <a:rPr lang="en-US" sz="2300" u="non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Chat, asistente de IA, interacción por voz, fotos y entretenimiento</a:t>
            </a:r>
          </a:p>
          <a:p>
            <a:pPr algn="l">
              <a:lnSpc>
                <a:spcPts val="3404"/>
              </a:lnSpc>
            </a:pPr>
          </a:p>
          <a:p>
            <a:pPr algn="l">
              <a:lnSpc>
                <a:spcPts val="3404"/>
              </a:lnSpc>
              <a:spcBef>
                <a:spcPct val="0"/>
              </a:spcBef>
            </a:pPr>
            <a:r>
              <a:rPr lang="en-US" sz="2300" u="non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Wearables y OCR</a:t>
            </a:r>
          </a:p>
          <a:p>
            <a:pPr algn="l" marL="496571" indent="-248285" lvl="1">
              <a:lnSpc>
                <a:spcPts val="3404"/>
              </a:lnSpc>
              <a:buFont typeface="Arial"/>
              <a:buChar char="•"/>
            </a:pPr>
            <a:r>
              <a:rPr lang="en-US" sz="2300" u="non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Vinculación de dispositivos y digitalización de recetas por cámara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19992" y="3711480"/>
            <a:ext cx="7142047" cy="5468698"/>
          </a:xfrm>
          <a:custGeom>
            <a:avLst/>
            <a:gdLst/>
            <a:ahLst/>
            <a:cxnLst/>
            <a:rect r="r" b="b" t="t" l="l"/>
            <a:pathLst>
              <a:path h="5468698" w="7142047">
                <a:moveTo>
                  <a:pt x="0" y="0"/>
                </a:moveTo>
                <a:lnTo>
                  <a:pt x="7142047" y="0"/>
                </a:lnTo>
                <a:lnTo>
                  <a:pt x="7142047" y="5468699"/>
                </a:lnTo>
                <a:lnTo>
                  <a:pt x="0" y="54686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886450"/>
            <a:ext cx="877444" cy="87744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983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703194"/>
            <a:ext cx="877444" cy="8774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98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6523106"/>
            <a:ext cx="877444" cy="87744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983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8286375"/>
            <a:ext cx="877444" cy="87744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983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598970" y="2646402"/>
            <a:ext cx="4660330" cy="6078695"/>
            <a:chOff x="0" y="0"/>
            <a:chExt cx="1227412" cy="16009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27412" cy="1600973"/>
            </a:xfrm>
            <a:custGeom>
              <a:avLst/>
              <a:gdLst/>
              <a:ahLst/>
              <a:cxnLst/>
              <a:rect r="r" b="b" t="t" l="l"/>
              <a:pathLst>
                <a:path h="1600973" w="1227412">
                  <a:moveTo>
                    <a:pt x="84723" y="0"/>
                  </a:moveTo>
                  <a:lnTo>
                    <a:pt x="1142689" y="0"/>
                  </a:lnTo>
                  <a:cubicBezTo>
                    <a:pt x="1165159" y="0"/>
                    <a:pt x="1186708" y="8926"/>
                    <a:pt x="1202597" y="24815"/>
                  </a:cubicBezTo>
                  <a:cubicBezTo>
                    <a:pt x="1218486" y="40704"/>
                    <a:pt x="1227412" y="62253"/>
                    <a:pt x="1227412" y="84723"/>
                  </a:cubicBezTo>
                  <a:lnTo>
                    <a:pt x="1227412" y="1516250"/>
                  </a:lnTo>
                  <a:cubicBezTo>
                    <a:pt x="1227412" y="1538720"/>
                    <a:pt x="1218486" y="1560270"/>
                    <a:pt x="1202597" y="1576158"/>
                  </a:cubicBezTo>
                  <a:cubicBezTo>
                    <a:pt x="1186708" y="1592047"/>
                    <a:pt x="1165159" y="1600973"/>
                    <a:pt x="1142689" y="1600973"/>
                  </a:cubicBezTo>
                  <a:lnTo>
                    <a:pt x="84723" y="1600973"/>
                  </a:lnTo>
                  <a:cubicBezTo>
                    <a:pt x="62253" y="1600973"/>
                    <a:pt x="40704" y="1592047"/>
                    <a:pt x="24815" y="1576158"/>
                  </a:cubicBezTo>
                  <a:cubicBezTo>
                    <a:pt x="8926" y="1560270"/>
                    <a:pt x="0" y="1538720"/>
                    <a:pt x="0" y="1516250"/>
                  </a:cubicBezTo>
                  <a:lnTo>
                    <a:pt x="0" y="84723"/>
                  </a:lnTo>
                  <a:cubicBezTo>
                    <a:pt x="0" y="62253"/>
                    <a:pt x="8926" y="40704"/>
                    <a:pt x="24815" y="24815"/>
                  </a:cubicBezTo>
                  <a:cubicBezTo>
                    <a:pt x="40704" y="8926"/>
                    <a:pt x="62253" y="0"/>
                    <a:pt x="84723" y="0"/>
                  </a:cubicBezTo>
                  <a:close/>
                </a:path>
              </a:pathLst>
            </a:custGeom>
            <a:solidFill>
              <a:srgbClr val="B7B1F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1227412" cy="1572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8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777099" y="3381676"/>
            <a:ext cx="2304073" cy="2304073"/>
          </a:xfrm>
          <a:custGeom>
            <a:avLst/>
            <a:gdLst/>
            <a:ahLst/>
            <a:cxnLst/>
            <a:rect r="r" b="b" t="t" l="l"/>
            <a:pathLst>
              <a:path h="2304073" w="2304073">
                <a:moveTo>
                  <a:pt x="0" y="0"/>
                </a:moveTo>
                <a:lnTo>
                  <a:pt x="2304073" y="0"/>
                </a:lnTo>
                <a:lnTo>
                  <a:pt x="2304073" y="2304073"/>
                </a:lnTo>
                <a:lnTo>
                  <a:pt x="0" y="23040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933450"/>
            <a:ext cx="12935036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B7B1F4"/>
                </a:solidFill>
                <a:latin typeface="Nunito Bold"/>
                <a:ea typeface="Nunito Bold"/>
                <a:cs typeface="Nunito Bold"/>
                <a:sym typeface="Nunito Bold"/>
              </a:rPr>
              <a:t>APLICACIÓN WEB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B7B1F4"/>
                </a:solidFill>
                <a:latin typeface="Nunito Bold"/>
                <a:ea typeface="Nunito Bold"/>
                <a:cs typeface="Nunito Bold"/>
                <a:sym typeface="Nunito Bold"/>
              </a:rPr>
              <a:t>ROLES: FAMILIAR, CUIDADORA Y MÉDICO (MISMA API QUE LA APP MÓVIL)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30044" y="2861241"/>
            <a:ext cx="9509620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Funciones esenciales en el navegador</a:t>
            </a:r>
          </a:p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Monitoreo del paciente, centro de alertas, medicamentos, comunicación y expediente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30044" y="4677985"/>
            <a:ext cx="9509620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Pantalla grande para trabajo prolongado</a:t>
            </a:r>
          </a:p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Revisión del expediente por el médico, reportes de la cuidadora profesional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30044" y="6497897"/>
            <a:ext cx="9509620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Acceso inmediato para usuarios nuevos</a:t>
            </a:r>
          </a:p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Reduce la barrera de entrada, ideal para un familiar invitado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30044" y="8261166"/>
            <a:ext cx="9509620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Paridad total con la app móvil</a:t>
            </a:r>
          </a:p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Mismos datos, misma sesión, mismo modelo de roles y permisos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79315" y="6065865"/>
            <a:ext cx="1899639" cy="160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799" spc="-55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C</a:t>
            </a:r>
            <a:r>
              <a:rPr lang="en-US" sz="2799" spc="-55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entro de mando, en la palma de su mano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0094446" y="7831465"/>
            <a:ext cx="2235506" cy="2268503"/>
          </a:xfrm>
          <a:custGeom>
            <a:avLst/>
            <a:gdLst/>
            <a:ahLst/>
            <a:cxnLst/>
            <a:rect r="r" b="b" t="t" l="l"/>
            <a:pathLst>
              <a:path h="2268503" w="2235506">
                <a:moveTo>
                  <a:pt x="0" y="0"/>
                </a:moveTo>
                <a:lnTo>
                  <a:pt x="2235506" y="0"/>
                </a:lnTo>
                <a:lnTo>
                  <a:pt x="2235506" y="2268502"/>
                </a:lnTo>
                <a:lnTo>
                  <a:pt x="0" y="22685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886450"/>
            <a:ext cx="877444" cy="87744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983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703194"/>
            <a:ext cx="877444" cy="8774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98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6523106"/>
            <a:ext cx="877444" cy="87744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983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8286375"/>
            <a:ext cx="877444" cy="87744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983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598970" y="2646402"/>
            <a:ext cx="4660330" cy="6078695"/>
            <a:chOff x="0" y="0"/>
            <a:chExt cx="1227412" cy="16009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27412" cy="1600973"/>
            </a:xfrm>
            <a:custGeom>
              <a:avLst/>
              <a:gdLst/>
              <a:ahLst/>
              <a:cxnLst/>
              <a:rect r="r" b="b" t="t" l="l"/>
              <a:pathLst>
                <a:path h="1600973" w="1227412">
                  <a:moveTo>
                    <a:pt x="84723" y="0"/>
                  </a:moveTo>
                  <a:lnTo>
                    <a:pt x="1142689" y="0"/>
                  </a:lnTo>
                  <a:cubicBezTo>
                    <a:pt x="1165159" y="0"/>
                    <a:pt x="1186708" y="8926"/>
                    <a:pt x="1202597" y="24815"/>
                  </a:cubicBezTo>
                  <a:cubicBezTo>
                    <a:pt x="1218486" y="40704"/>
                    <a:pt x="1227412" y="62253"/>
                    <a:pt x="1227412" y="84723"/>
                  </a:cubicBezTo>
                  <a:lnTo>
                    <a:pt x="1227412" y="1516250"/>
                  </a:lnTo>
                  <a:cubicBezTo>
                    <a:pt x="1227412" y="1538720"/>
                    <a:pt x="1218486" y="1560270"/>
                    <a:pt x="1202597" y="1576158"/>
                  </a:cubicBezTo>
                  <a:cubicBezTo>
                    <a:pt x="1186708" y="1592047"/>
                    <a:pt x="1165159" y="1600973"/>
                    <a:pt x="1142689" y="1600973"/>
                  </a:cubicBezTo>
                  <a:lnTo>
                    <a:pt x="84723" y="1600973"/>
                  </a:lnTo>
                  <a:cubicBezTo>
                    <a:pt x="62253" y="1600973"/>
                    <a:pt x="40704" y="1592047"/>
                    <a:pt x="24815" y="1576158"/>
                  </a:cubicBezTo>
                  <a:cubicBezTo>
                    <a:pt x="8926" y="1560270"/>
                    <a:pt x="0" y="1538720"/>
                    <a:pt x="0" y="1516250"/>
                  </a:cubicBezTo>
                  <a:lnTo>
                    <a:pt x="0" y="84723"/>
                  </a:lnTo>
                  <a:cubicBezTo>
                    <a:pt x="0" y="62253"/>
                    <a:pt x="8926" y="40704"/>
                    <a:pt x="24815" y="24815"/>
                  </a:cubicBezTo>
                  <a:cubicBezTo>
                    <a:pt x="40704" y="8926"/>
                    <a:pt x="62253" y="0"/>
                    <a:pt x="84723" y="0"/>
                  </a:cubicBezTo>
                  <a:close/>
                </a:path>
              </a:pathLst>
            </a:custGeom>
            <a:solidFill>
              <a:srgbClr val="EAA38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1227412" cy="1572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8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089387" y="3256427"/>
            <a:ext cx="1679495" cy="1887073"/>
          </a:xfrm>
          <a:custGeom>
            <a:avLst/>
            <a:gdLst/>
            <a:ahLst/>
            <a:cxnLst/>
            <a:rect r="r" b="b" t="t" l="l"/>
            <a:pathLst>
              <a:path h="1887073" w="1679495">
                <a:moveTo>
                  <a:pt x="0" y="0"/>
                </a:moveTo>
                <a:lnTo>
                  <a:pt x="1679496" y="0"/>
                </a:lnTo>
                <a:lnTo>
                  <a:pt x="1679496" y="1887073"/>
                </a:lnTo>
                <a:lnTo>
                  <a:pt x="0" y="18870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933450"/>
            <a:ext cx="12935036" cy="1598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B7B1F4"/>
                </a:solidFill>
                <a:latin typeface="Nunito Bold"/>
                <a:ea typeface="Nunito Bold"/>
                <a:cs typeface="Nunito Bold"/>
                <a:sym typeface="Nunito Bold"/>
              </a:rPr>
              <a:t>DIRECT</a:t>
            </a:r>
            <a:r>
              <a:rPr lang="en-US" sz="4800" b="true">
                <a:solidFill>
                  <a:srgbClr val="B7B1F4"/>
                </a:solidFill>
                <a:latin typeface="Nunito Bold"/>
                <a:ea typeface="Nunito Bold"/>
                <a:cs typeface="Nunito Bold"/>
                <a:sym typeface="Nunito Bold"/>
              </a:rPr>
              <a:t>OR MUSICAL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B7B1F4"/>
                </a:solidFill>
                <a:latin typeface="Nunito Bold"/>
                <a:ea typeface="Nunito Bold"/>
                <a:cs typeface="Nunito Bold"/>
                <a:sym typeface="Nunito Bold"/>
              </a:rPr>
              <a:t>EL ADULTO MAYOR CREA MÚSICA DIRIGIENDO CON GESTOS DE LAS MANOS FRENTE A LA CÁMARA.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30044" y="2694554"/>
            <a:ext cx="9509620" cy="1185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Gestos que crean música</a:t>
            </a:r>
          </a:p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La posición de las manos controla tempo e intensidad; audio generado en el dispositivo, offline-first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30044" y="4511298"/>
            <a:ext cx="9509620" cy="1185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Grabación y sincronización</a:t>
            </a:r>
          </a:p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Canciones (eventos + audio M4A) sincronizadas al backend con idempotencia y reintentos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30044" y="6331209"/>
            <a:ext cx="9509620" cy="1185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Cero barreras de acceso</a:t>
            </a:r>
          </a:p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La cuenta la crea el cuidador o la institución; vinculación por código simple, sin credenciales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30044" y="8261166"/>
            <a:ext cx="9509620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Vínculo familiar y seguimiento</a:t>
            </a:r>
          </a:p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Enlaces </a:t>
            </a: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seguros para compartir creaciones; métricas de uso con fines terapéuticos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53312" y="5704799"/>
            <a:ext cx="2351646" cy="240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799" spc="-55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Es</a:t>
            </a:r>
            <a:r>
              <a:rPr lang="en-US" sz="2799" spc="-55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timulación</a:t>
            </a:r>
          </a:p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799" spc="-55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cognitiva y emocional</a:t>
            </a:r>
          </a:p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799" spc="-55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a través de la</a:t>
            </a:r>
          </a:p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799" spc="-55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creación musical activa.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4763643" y="263242"/>
            <a:ext cx="2682631" cy="2268503"/>
          </a:xfrm>
          <a:custGeom>
            <a:avLst/>
            <a:gdLst/>
            <a:ahLst/>
            <a:cxnLst/>
            <a:rect r="r" b="b" t="t" l="l"/>
            <a:pathLst>
              <a:path h="2268503" w="2682631">
                <a:moveTo>
                  <a:pt x="0" y="0"/>
                </a:moveTo>
                <a:lnTo>
                  <a:pt x="2682631" y="0"/>
                </a:lnTo>
                <a:lnTo>
                  <a:pt x="2682631" y="2268503"/>
                </a:lnTo>
                <a:lnTo>
                  <a:pt x="0" y="22685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276929">
            <a:off x="-4293704" y="4747069"/>
            <a:ext cx="12426480" cy="6064985"/>
          </a:xfrm>
          <a:custGeom>
            <a:avLst/>
            <a:gdLst/>
            <a:ahLst/>
            <a:cxnLst/>
            <a:rect r="r" b="b" t="t" l="l"/>
            <a:pathLst>
              <a:path h="6064985" w="12426480">
                <a:moveTo>
                  <a:pt x="0" y="0"/>
                </a:moveTo>
                <a:lnTo>
                  <a:pt x="12426480" y="0"/>
                </a:lnTo>
                <a:lnTo>
                  <a:pt x="12426480" y="6064985"/>
                </a:lnTo>
                <a:lnTo>
                  <a:pt x="0" y="6064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97521">
            <a:off x="7703276" y="-6696027"/>
            <a:ext cx="11799995" cy="11114034"/>
          </a:xfrm>
          <a:custGeom>
            <a:avLst/>
            <a:gdLst/>
            <a:ahLst/>
            <a:cxnLst/>
            <a:rect r="r" b="b" t="t" l="l"/>
            <a:pathLst>
              <a:path h="11114034" w="11799995">
                <a:moveTo>
                  <a:pt x="0" y="0"/>
                </a:moveTo>
                <a:lnTo>
                  <a:pt x="11799995" y="0"/>
                </a:lnTo>
                <a:lnTo>
                  <a:pt x="11799995" y="11114034"/>
                </a:lnTo>
                <a:lnTo>
                  <a:pt x="0" y="11114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2309197" y="3752635"/>
            <a:ext cx="8063191" cy="2781730"/>
            <a:chOff x="0" y="0"/>
            <a:chExt cx="10750922" cy="370897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2616264"/>
              <a:ext cx="10750922" cy="1092709"/>
              <a:chOff x="0" y="0"/>
              <a:chExt cx="2123639" cy="21584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123639" cy="215844"/>
              </a:xfrm>
              <a:custGeom>
                <a:avLst/>
                <a:gdLst/>
                <a:ahLst/>
                <a:cxnLst/>
                <a:rect r="r" b="b" t="t" l="l"/>
                <a:pathLst>
                  <a:path h="215844" w="2123639">
                    <a:moveTo>
                      <a:pt x="48968" y="0"/>
                    </a:moveTo>
                    <a:lnTo>
                      <a:pt x="2074671" y="0"/>
                    </a:lnTo>
                    <a:cubicBezTo>
                      <a:pt x="2087658" y="0"/>
                      <a:pt x="2100113" y="5159"/>
                      <a:pt x="2109296" y="14342"/>
                    </a:cubicBezTo>
                    <a:cubicBezTo>
                      <a:pt x="2118480" y="23526"/>
                      <a:pt x="2123639" y="35981"/>
                      <a:pt x="2123639" y="48968"/>
                    </a:cubicBezTo>
                    <a:lnTo>
                      <a:pt x="2123639" y="166876"/>
                    </a:lnTo>
                    <a:cubicBezTo>
                      <a:pt x="2123639" y="179863"/>
                      <a:pt x="2118480" y="192318"/>
                      <a:pt x="2109296" y="201501"/>
                    </a:cubicBezTo>
                    <a:cubicBezTo>
                      <a:pt x="2100113" y="210685"/>
                      <a:pt x="2087658" y="215844"/>
                      <a:pt x="2074671" y="215844"/>
                    </a:cubicBezTo>
                    <a:lnTo>
                      <a:pt x="48968" y="215844"/>
                    </a:lnTo>
                    <a:cubicBezTo>
                      <a:pt x="35981" y="215844"/>
                      <a:pt x="23526" y="210685"/>
                      <a:pt x="14342" y="201501"/>
                    </a:cubicBezTo>
                    <a:cubicBezTo>
                      <a:pt x="5159" y="192318"/>
                      <a:pt x="0" y="179863"/>
                      <a:pt x="0" y="166876"/>
                    </a:cubicBezTo>
                    <a:lnTo>
                      <a:pt x="0" y="48968"/>
                    </a:lnTo>
                    <a:cubicBezTo>
                      <a:pt x="0" y="35981"/>
                      <a:pt x="5159" y="23526"/>
                      <a:pt x="14342" y="14342"/>
                    </a:cubicBezTo>
                    <a:cubicBezTo>
                      <a:pt x="23526" y="5159"/>
                      <a:pt x="35981" y="0"/>
                      <a:pt x="48968" y="0"/>
                    </a:cubicBezTo>
                    <a:close/>
                  </a:path>
                </a:pathLst>
              </a:custGeom>
              <a:solidFill>
                <a:srgbClr val="B7B1F4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2123639" cy="2825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5040"/>
                  </a:lnSpc>
                  <a:spcBef>
                    <a:spcPct val="0"/>
                  </a:spcBef>
                </a:pPr>
                <a:r>
                  <a:rPr lang="en-US" b="true" sz="3600">
                    <a:solidFill>
                      <a:srgbClr val="FFFBF5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ADMINISTRACIÓN</a:t>
                </a: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142875"/>
              <a:ext cx="10750922" cy="1890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48"/>
                </a:lnSpc>
              </a:pPr>
              <a:r>
                <a:rPr lang="en-US" sz="10046" b="true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AgeCare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229015" y="2534866"/>
            <a:ext cx="5373287" cy="6523883"/>
          </a:xfrm>
          <a:custGeom>
            <a:avLst/>
            <a:gdLst/>
            <a:ahLst/>
            <a:cxnLst/>
            <a:rect r="r" b="b" t="t" l="l"/>
            <a:pathLst>
              <a:path h="6523883" w="5373287">
                <a:moveTo>
                  <a:pt x="0" y="0"/>
                </a:moveTo>
                <a:lnTo>
                  <a:pt x="5373287" y="0"/>
                </a:lnTo>
                <a:lnTo>
                  <a:pt x="5373287" y="6523883"/>
                </a:lnTo>
                <a:lnTo>
                  <a:pt x="0" y="65238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144000" y="1028700"/>
            <a:ext cx="3528667" cy="903511"/>
            <a:chOff x="0" y="0"/>
            <a:chExt cx="4704889" cy="12046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25658" cy="1204681"/>
            </a:xfrm>
            <a:custGeom>
              <a:avLst/>
              <a:gdLst/>
              <a:ahLst/>
              <a:cxnLst/>
              <a:rect r="r" b="b" t="t" l="l"/>
              <a:pathLst>
                <a:path h="1204681" w="1425658">
                  <a:moveTo>
                    <a:pt x="0" y="0"/>
                  </a:moveTo>
                  <a:lnTo>
                    <a:pt x="1425658" y="0"/>
                  </a:lnTo>
                  <a:lnTo>
                    <a:pt x="1425658" y="1204681"/>
                  </a:lnTo>
                  <a:lnTo>
                    <a:pt x="0" y="1204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698885" y="55605"/>
              <a:ext cx="3006004" cy="1079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b="true" sz="1599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PLA</a:t>
              </a:r>
              <a:r>
                <a:rPr lang="en-US" b="true" sz="1599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TAFORMA DE CUIDADO PARA ADULTOS MAYORES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88682" y="2450636"/>
            <a:ext cx="656799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B7B1F4"/>
                </a:solidFill>
                <a:latin typeface="Nunito Bold"/>
                <a:ea typeface="Nunito Bold"/>
                <a:cs typeface="Nunito Bold"/>
                <a:sym typeface="Nunito Bold"/>
              </a:rPr>
              <a:t>¿QUÉ HAREMOS?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802879" y="3740233"/>
            <a:ext cx="7596695" cy="400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1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Panel intern</a:t>
            </a:r>
            <a:r>
              <a:rPr lang="en-US" sz="2400" u="non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o para el equipo de operaciones de Wellq Co. Es el único componente que no está dirigido a las familias/adultos mayores, sino al propio equipo del producto.</a:t>
            </a:r>
          </a:p>
          <a:p>
            <a:pPr algn="l" marL="0" indent="0" lvl="0">
              <a:lnSpc>
                <a:spcPts val="3551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551"/>
              </a:lnSpc>
              <a:spcBef>
                <a:spcPct val="0"/>
              </a:spcBef>
            </a:pPr>
            <a:r>
              <a:rPr lang="en-US" sz="2400" u="sng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Objetivo general</a:t>
            </a:r>
          </a:p>
          <a:p>
            <a:pPr algn="l" marL="0" indent="0" lvl="0">
              <a:lnSpc>
                <a:spcPts val="3551"/>
              </a:lnSpc>
              <a:spcBef>
                <a:spcPct val="0"/>
              </a:spcBef>
            </a:pPr>
            <a:r>
              <a:rPr lang="en-US" sz="2400" u="non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asegurar la operación, el soporte y la calidad del contenido y de los catálogos de toda la plataforma AgeCare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72362" y="2405482"/>
            <a:ext cx="7175495" cy="5476036"/>
          </a:xfrm>
          <a:custGeom>
            <a:avLst/>
            <a:gdLst/>
            <a:ahLst/>
            <a:cxnLst/>
            <a:rect r="r" b="b" t="t" l="l"/>
            <a:pathLst>
              <a:path h="5476036" w="7175495">
                <a:moveTo>
                  <a:pt x="0" y="0"/>
                </a:moveTo>
                <a:lnTo>
                  <a:pt x="7175496" y="0"/>
                </a:lnTo>
                <a:lnTo>
                  <a:pt x="7175496" y="5476036"/>
                </a:lnTo>
                <a:lnTo>
                  <a:pt x="0" y="5476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48336" y="3579027"/>
            <a:ext cx="877444" cy="87744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983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48336" y="5395771"/>
            <a:ext cx="877444" cy="8774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98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148336" y="7215683"/>
            <a:ext cx="877444" cy="87744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983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4106" y="2796730"/>
            <a:ext cx="4660330" cy="6078695"/>
            <a:chOff x="0" y="0"/>
            <a:chExt cx="1227412" cy="16009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27412" cy="1600973"/>
            </a:xfrm>
            <a:custGeom>
              <a:avLst/>
              <a:gdLst/>
              <a:ahLst/>
              <a:cxnLst/>
              <a:rect r="r" b="b" t="t" l="l"/>
              <a:pathLst>
                <a:path h="1600973" w="1227412">
                  <a:moveTo>
                    <a:pt x="84723" y="0"/>
                  </a:moveTo>
                  <a:lnTo>
                    <a:pt x="1142689" y="0"/>
                  </a:lnTo>
                  <a:cubicBezTo>
                    <a:pt x="1165159" y="0"/>
                    <a:pt x="1186708" y="8926"/>
                    <a:pt x="1202597" y="24815"/>
                  </a:cubicBezTo>
                  <a:cubicBezTo>
                    <a:pt x="1218486" y="40704"/>
                    <a:pt x="1227412" y="62253"/>
                    <a:pt x="1227412" y="84723"/>
                  </a:cubicBezTo>
                  <a:lnTo>
                    <a:pt x="1227412" y="1516250"/>
                  </a:lnTo>
                  <a:cubicBezTo>
                    <a:pt x="1227412" y="1538720"/>
                    <a:pt x="1218486" y="1560270"/>
                    <a:pt x="1202597" y="1576158"/>
                  </a:cubicBezTo>
                  <a:cubicBezTo>
                    <a:pt x="1186708" y="1592047"/>
                    <a:pt x="1165159" y="1600973"/>
                    <a:pt x="1142689" y="1600973"/>
                  </a:cubicBezTo>
                  <a:lnTo>
                    <a:pt x="84723" y="1600973"/>
                  </a:lnTo>
                  <a:cubicBezTo>
                    <a:pt x="62253" y="1600973"/>
                    <a:pt x="40704" y="1592047"/>
                    <a:pt x="24815" y="1576158"/>
                  </a:cubicBezTo>
                  <a:cubicBezTo>
                    <a:pt x="8926" y="1560270"/>
                    <a:pt x="0" y="1538720"/>
                    <a:pt x="0" y="1516250"/>
                  </a:cubicBezTo>
                  <a:lnTo>
                    <a:pt x="0" y="84723"/>
                  </a:lnTo>
                  <a:cubicBezTo>
                    <a:pt x="0" y="62253"/>
                    <a:pt x="8926" y="40704"/>
                    <a:pt x="24815" y="24815"/>
                  </a:cubicBezTo>
                  <a:cubicBezTo>
                    <a:pt x="40704" y="8926"/>
                    <a:pt x="62253" y="0"/>
                    <a:pt x="84723" y="0"/>
                  </a:cubicBezTo>
                  <a:close/>
                </a:path>
              </a:pathLst>
            </a:custGeom>
            <a:solidFill>
              <a:srgbClr val="EA983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1227412" cy="1572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8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112530" y="4112672"/>
            <a:ext cx="1963482" cy="1276264"/>
          </a:xfrm>
          <a:custGeom>
            <a:avLst/>
            <a:gdLst/>
            <a:ahLst/>
            <a:cxnLst/>
            <a:rect r="r" b="b" t="t" l="l"/>
            <a:pathLst>
              <a:path h="1276264" w="1963482">
                <a:moveTo>
                  <a:pt x="0" y="0"/>
                </a:moveTo>
                <a:lnTo>
                  <a:pt x="1963483" y="0"/>
                </a:lnTo>
                <a:lnTo>
                  <a:pt x="1963483" y="1276263"/>
                </a:lnTo>
                <a:lnTo>
                  <a:pt x="0" y="1276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933450"/>
            <a:ext cx="12935036" cy="1598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B7B1F4"/>
                </a:solidFill>
                <a:latin typeface="Nunito Bold"/>
                <a:ea typeface="Nunito Bold"/>
                <a:cs typeface="Nunito Bold"/>
                <a:sym typeface="Nunito Bold"/>
              </a:rPr>
              <a:t>GESTIÓN DE U</a:t>
            </a:r>
            <a:r>
              <a:rPr lang="en-US" sz="4800" b="true">
                <a:solidFill>
                  <a:srgbClr val="B7B1F4"/>
                </a:solidFill>
                <a:latin typeface="Nunito Bold"/>
                <a:ea typeface="Nunito Bold"/>
                <a:cs typeface="Nunito Bold"/>
                <a:sym typeface="Nunito Bold"/>
              </a:rPr>
              <a:t>SUARIO Y SOPORTE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B7B1F4"/>
                </a:solidFill>
                <a:latin typeface="Nunito Bold"/>
                <a:ea typeface="Nunito Bold"/>
                <a:cs typeface="Nunito Bold"/>
                <a:sym typeface="Nunito Bold"/>
              </a:rPr>
              <a:t>"ADMINISTRAR USUARIOS, CUENTAS Y ROLES DE LA PLATAFORMA, DANDO SOPORTE A LA RESOLUCIÓN DE INCIDENCIAS DE LOS USUARIOS FINALES."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49680" y="3553818"/>
            <a:ext cx="9509620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Cuentas y roles de toda la plataforma</a:t>
            </a:r>
          </a:p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Admi</a:t>
            </a: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nistración centralizada de usuarios, cuentas y roles asignados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49680" y="5370562"/>
            <a:ext cx="9509620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Resoluc</a:t>
            </a: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ión de incidencias</a:t>
            </a:r>
          </a:p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Soporte directo a los problemas reportados por usuarios finales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49680" y="7190474"/>
            <a:ext cx="9509620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Continuidad del servicio</a:t>
            </a:r>
          </a:p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Sosti</a:t>
            </a: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ene la confianza de familias, cuidadoras y médicos en el día a día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44452" y="6216193"/>
            <a:ext cx="1899639" cy="805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799" spc="-55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Usua</a:t>
            </a:r>
            <a:r>
              <a:rPr lang="en-US" sz="2799" spc="-55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rios</a:t>
            </a:r>
          </a:p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799" spc="-55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y soporte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5245208" y="6609639"/>
            <a:ext cx="3042792" cy="3694354"/>
          </a:xfrm>
          <a:custGeom>
            <a:avLst/>
            <a:gdLst/>
            <a:ahLst/>
            <a:cxnLst/>
            <a:rect r="r" b="b" t="t" l="l"/>
            <a:pathLst>
              <a:path h="3694354" w="3042792">
                <a:moveTo>
                  <a:pt x="0" y="0"/>
                </a:moveTo>
                <a:lnTo>
                  <a:pt x="3042792" y="0"/>
                </a:lnTo>
                <a:lnTo>
                  <a:pt x="3042792" y="3694354"/>
                </a:lnTo>
                <a:lnTo>
                  <a:pt x="0" y="36943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48336" y="3579027"/>
            <a:ext cx="877444" cy="87744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1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48336" y="5395771"/>
            <a:ext cx="877444" cy="8774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1F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148336" y="7215683"/>
            <a:ext cx="877444" cy="87744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1F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4106" y="2796730"/>
            <a:ext cx="4660330" cy="6078695"/>
            <a:chOff x="0" y="0"/>
            <a:chExt cx="1227412" cy="16009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27412" cy="1600973"/>
            </a:xfrm>
            <a:custGeom>
              <a:avLst/>
              <a:gdLst/>
              <a:ahLst/>
              <a:cxnLst/>
              <a:rect r="r" b="b" t="t" l="l"/>
              <a:pathLst>
                <a:path h="1600973" w="1227412">
                  <a:moveTo>
                    <a:pt x="84723" y="0"/>
                  </a:moveTo>
                  <a:lnTo>
                    <a:pt x="1142689" y="0"/>
                  </a:lnTo>
                  <a:cubicBezTo>
                    <a:pt x="1165159" y="0"/>
                    <a:pt x="1186708" y="8926"/>
                    <a:pt x="1202597" y="24815"/>
                  </a:cubicBezTo>
                  <a:cubicBezTo>
                    <a:pt x="1218486" y="40704"/>
                    <a:pt x="1227412" y="62253"/>
                    <a:pt x="1227412" y="84723"/>
                  </a:cubicBezTo>
                  <a:lnTo>
                    <a:pt x="1227412" y="1516250"/>
                  </a:lnTo>
                  <a:cubicBezTo>
                    <a:pt x="1227412" y="1538720"/>
                    <a:pt x="1218486" y="1560270"/>
                    <a:pt x="1202597" y="1576158"/>
                  </a:cubicBezTo>
                  <a:cubicBezTo>
                    <a:pt x="1186708" y="1592047"/>
                    <a:pt x="1165159" y="1600973"/>
                    <a:pt x="1142689" y="1600973"/>
                  </a:cubicBezTo>
                  <a:lnTo>
                    <a:pt x="84723" y="1600973"/>
                  </a:lnTo>
                  <a:cubicBezTo>
                    <a:pt x="62253" y="1600973"/>
                    <a:pt x="40704" y="1592047"/>
                    <a:pt x="24815" y="1576158"/>
                  </a:cubicBezTo>
                  <a:cubicBezTo>
                    <a:pt x="8926" y="1560270"/>
                    <a:pt x="0" y="1538720"/>
                    <a:pt x="0" y="1516250"/>
                  </a:cubicBezTo>
                  <a:lnTo>
                    <a:pt x="0" y="84723"/>
                  </a:lnTo>
                  <a:cubicBezTo>
                    <a:pt x="0" y="62253"/>
                    <a:pt x="8926" y="40704"/>
                    <a:pt x="24815" y="24815"/>
                  </a:cubicBezTo>
                  <a:cubicBezTo>
                    <a:pt x="40704" y="8926"/>
                    <a:pt x="62253" y="0"/>
                    <a:pt x="84723" y="0"/>
                  </a:cubicBezTo>
                  <a:close/>
                </a:path>
              </a:pathLst>
            </a:custGeom>
            <a:solidFill>
              <a:srgbClr val="B7B1F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1227412" cy="1572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8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241970" y="3910048"/>
            <a:ext cx="1704603" cy="1721821"/>
          </a:xfrm>
          <a:custGeom>
            <a:avLst/>
            <a:gdLst/>
            <a:ahLst/>
            <a:cxnLst/>
            <a:rect r="r" b="b" t="t" l="l"/>
            <a:pathLst>
              <a:path h="1721821" w="1704603">
                <a:moveTo>
                  <a:pt x="0" y="0"/>
                </a:moveTo>
                <a:lnTo>
                  <a:pt x="1704603" y="0"/>
                </a:lnTo>
                <a:lnTo>
                  <a:pt x="1704603" y="1721822"/>
                </a:lnTo>
                <a:lnTo>
                  <a:pt x="0" y="17218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933450"/>
            <a:ext cx="14353402" cy="1598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B7B1F4"/>
                </a:solidFill>
                <a:latin typeface="Nunito Bold"/>
                <a:ea typeface="Nunito Bold"/>
                <a:cs typeface="Nunito Bold"/>
                <a:sym typeface="Nunito Bold"/>
              </a:rPr>
              <a:t>CURACIÓN DE C</a:t>
            </a:r>
            <a:r>
              <a:rPr lang="en-US" sz="4800" b="true">
                <a:solidFill>
                  <a:srgbClr val="B7B1F4"/>
                </a:solidFill>
                <a:latin typeface="Nunito Bold"/>
                <a:ea typeface="Nunito Bold"/>
                <a:cs typeface="Nunito Bold"/>
                <a:sym typeface="Nunito Bold"/>
              </a:rPr>
              <a:t>ONTENIDO Y CONFIGURACIÓN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B7B1F4"/>
                </a:solidFill>
                <a:latin typeface="Nunito Bold"/>
                <a:ea typeface="Nunito Bold"/>
                <a:cs typeface="Nunito Bold"/>
                <a:sym typeface="Nunito Bold"/>
              </a:rPr>
              <a:t>"CURAR Y GESTIONAR EL CONTENIDO DE ENTRETENIMIENTO DEL ADULTO MAYOR Y LOS PARÁMETROS DE CONFIGURACIÓN DEL SISTEMA."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49680" y="3553818"/>
            <a:ext cx="9509620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Entretenimiento del adulto mayor</a:t>
            </a:r>
          </a:p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Ge</a:t>
            </a: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stión y curación del contenido que ve el adulto mayor en la app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49680" y="5370562"/>
            <a:ext cx="9509620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Parámetros</a:t>
            </a: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 del sistema</a:t>
            </a:r>
          </a:p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C</a:t>
            </a: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onfiguración de los ajustes generales de la plataforma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49680" y="7190474"/>
            <a:ext cx="9509620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Calidad y relevancia</a:t>
            </a:r>
          </a:p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Gar</a:t>
            </a: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antiza una experiencia siempre adecuada y de calidad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44452" y="6216193"/>
            <a:ext cx="1899639" cy="1205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799" spc="-55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C</a:t>
            </a:r>
            <a:r>
              <a:rPr lang="en-US" sz="2799" spc="-55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urac</a:t>
            </a:r>
            <a:r>
              <a:rPr lang="en-US" sz="2799" spc="-55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ión</a:t>
            </a:r>
          </a:p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799" spc="-55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de contenido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917218" y="7654405"/>
            <a:ext cx="2354107" cy="2268503"/>
          </a:xfrm>
          <a:custGeom>
            <a:avLst/>
            <a:gdLst/>
            <a:ahLst/>
            <a:cxnLst/>
            <a:rect r="r" b="b" t="t" l="l"/>
            <a:pathLst>
              <a:path h="2268503" w="2354107">
                <a:moveTo>
                  <a:pt x="0" y="0"/>
                </a:moveTo>
                <a:lnTo>
                  <a:pt x="2354107" y="0"/>
                </a:lnTo>
                <a:lnTo>
                  <a:pt x="2354107" y="2268502"/>
                </a:lnTo>
                <a:lnTo>
                  <a:pt x="0" y="22685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48336" y="3579027"/>
            <a:ext cx="877444" cy="87744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73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48336" y="5395771"/>
            <a:ext cx="877444" cy="8774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734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148336" y="7215683"/>
            <a:ext cx="877444" cy="87744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734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4106" y="2796730"/>
            <a:ext cx="4660330" cy="6078695"/>
            <a:chOff x="0" y="0"/>
            <a:chExt cx="1227412" cy="16009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27412" cy="1600973"/>
            </a:xfrm>
            <a:custGeom>
              <a:avLst/>
              <a:gdLst/>
              <a:ahLst/>
              <a:cxnLst/>
              <a:rect r="r" b="b" t="t" l="l"/>
              <a:pathLst>
                <a:path h="1600973" w="1227412">
                  <a:moveTo>
                    <a:pt x="84723" y="0"/>
                  </a:moveTo>
                  <a:lnTo>
                    <a:pt x="1142689" y="0"/>
                  </a:lnTo>
                  <a:cubicBezTo>
                    <a:pt x="1165159" y="0"/>
                    <a:pt x="1186708" y="8926"/>
                    <a:pt x="1202597" y="24815"/>
                  </a:cubicBezTo>
                  <a:cubicBezTo>
                    <a:pt x="1218486" y="40704"/>
                    <a:pt x="1227412" y="62253"/>
                    <a:pt x="1227412" y="84723"/>
                  </a:cubicBezTo>
                  <a:lnTo>
                    <a:pt x="1227412" y="1516250"/>
                  </a:lnTo>
                  <a:cubicBezTo>
                    <a:pt x="1227412" y="1538720"/>
                    <a:pt x="1218486" y="1560270"/>
                    <a:pt x="1202597" y="1576158"/>
                  </a:cubicBezTo>
                  <a:cubicBezTo>
                    <a:pt x="1186708" y="1592047"/>
                    <a:pt x="1165159" y="1600973"/>
                    <a:pt x="1142689" y="1600973"/>
                  </a:cubicBezTo>
                  <a:lnTo>
                    <a:pt x="84723" y="1600973"/>
                  </a:lnTo>
                  <a:cubicBezTo>
                    <a:pt x="62253" y="1600973"/>
                    <a:pt x="40704" y="1592047"/>
                    <a:pt x="24815" y="1576158"/>
                  </a:cubicBezTo>
                  <a:cubicBezTo>
                    <a:pt x="8926" y="1560270"/>
                    <a:pt x="0" y="1538720"/>
                    <a:pt x="0" y="1516250"/>
                  </a:cubicBezTo>
                  <a:lnTo>
                    <a:pt x="0" y="84723"/>
                  </a:lnTo>
                  <a:cubicBezTo>
                    <a:pt x="0" y="62253"/>
                    <a:pt x="8926" y="40704"/>
                    <a:pt x="24815" y="24815"/>
                  </a:cubicBezTo>
                  <a:cubicBezTo>
                    <a:pt x="40704" y="8926"/>
                    <a:pt x="62253" y="0"/>
                    <a:pt x="84723" y="0"/>
                  </a:cubicBezTo>
                  <a:close/>
                </a:path>
              </a:pathLst>
            </a:custGeom>
            <a:solidFill>
              <a:srgbClr val="9F734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1227412" cy="1572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8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313390" y="4036297"/>
            <a:ext cx="1561763" cy="1429013"/>
          </a:xfrm>
          <a:custGeom>
            <a:avLst/>
            <a:gdLst/>
            <a:ahLst/>
            <a:cxnLst/>
            <a:rect r="r" b="b" t="t" l="l"/>
            <a:pathLst>
              <a:path h="1429013" w="1561763">
                <a:moveTo>
                  <a:pt x="0" y="0"/>
                </a:moveTo>
                <a:lnTo>
                  <a:pt x="1561763" y="0"/>
                </a:lnTo>
                <a:lnTo>
                  <a:pt x="1561763" y="1429013"/>
                </a:lnTo>
                <a:lnTo>
                  <a:pt x="0" y="14290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933450"/>
            <a:ext cx="12935036" cy="1598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B7B1F4"/>
                </a:solidFill>
                <a:latin typeface="Nunito Bold"/>
                <a:ea typeface="Nunito Bold"/>
                <a:cs typeface="Nunito Bold"/>
                <a:sym typeface="Nunito Bold"/>
              </a:rPr>
              <a:t>C</a:t>
            </a:r>
            <a:r>
              <a:rPr lang="en-US" sz="4800" b="true">
                <a:solidFill>
                  <a:srgbClr val="B7B1F4"/>
                </a:solidFill>
                <a:latin typeface="Nunito Bold"/>
                <a:ea typeface="Nunito Bold"/>
                <a:cs typeface="Nunito Bold"/>
                <a:sym typeface="Nunito Bold"/>
              </a:rPr>
              <a:t>ATÁLOGOS DEL MARKETPLACE</a:t>
            </a:r>
          </a:p>
          <a:p>
            <a:pPr algn="l">
              <a:lnSpc>
                <a:spcPts val="2940"/>
              </a:lnSpc>
            </a:pPr>
            <a:r>
              <a:rPr lang="en-US" b="true" sz="2100" i="true">
                <a:solidFill>
                  <a:srgbClr val="B7B1F4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"MANTENER LOS CATÁLOGOS DEL MARKETPLACE (CUIDADORAS Y ARTÍCULOS DE APOYO) Y MODERAR RESEÑAS Y PERFILES PUBLICADOS."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49680" y="3553818"/>
            <a:ext cx="9509620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Cuidadoras y artículos de apoyo</a:t>
            </a:r>
          </a:p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Ma</a:t>
            </a: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ntenimiento de los catálogos publicados en el marketplace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49680" y="5370562"/>
            <a:ext cx="9509620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Moderac</a:t>
            </a: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ión de reseñas y perfiles</a:t>
            </a:r>
          </a:p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Revisión y moderación del contenido publicado por terceros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49680" y="7190474"/>
            <a:ext cx="9509620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Vitrina de descubrimiento</a:t>
            </a:r>
          </a:p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Sosti</a:t>
            </a: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ene el modelo de negocio: monetización vía planes premium y marketplace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27553" y="6241274"/>
            <a:ext cx="2133436" cy="405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799" spc="-55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</a:t>
            </a:r>
            <a:r>
              <a:rPr lang="en-US" sz="2799" spc="-55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a</a:t>
            </a:r>
            <a:r>
              <a:rPr lang="en-US" sz="2799" spc="-55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rketplace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4502560" y="392696"/>
            <a:ext cx="3645162" cy="4750804"/>
          </a:xfrm>
          <a:custGeom>
            <a:avLst/>
            <a:gdLst/>
            <a:ahLst/>
            <a:cxnLst/>
            <a:rect r="r" b="b" t="t" l="l"/>
            <a:pathLst>
              <a:path h="4750804" w="3645162">
                <a:moveTo>
                  <a:pt x="0" y="0"/>
                </a:moveTo>
                <a:lnTo>
                  <a:pt x="3645162" y="0"/>
                </a:lnTo>
                <a:lnTo>
                  <a:pt x="3645162" y="4750804"/>
                </a:lnTo>
                <a:lnTo>
                  <a:pt x="0" y="4750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48336" y="3579027"/>
            <a:ext cx="877444" cy="87744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48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48336" y="5395771"/>
            <a:ext cx="877444" cy="8774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48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148336" y="7215683"/>
            <a:ext cx="877444" cy="87744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48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4106" y="2796730"/>
            <a:ext cx="4660330" cy="6078695"/>
            <a:chOff x="0" y="0"/>
            <a:chExt cx="1227412" cy="16009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27412" cy="1600973"/>
            </a:xfrm>
            <a:custGeom>
              <a:avLst/>
              <a:gdLst/>
              <a:ahLst/>
              <a:cxnLst/>
              <a:rect r="r" b="b" t="t" l="l"/>
              <a:pathLst>
                <a:path h="1600973" w="1227412">
                  <a:moveTo>
                    <a:pt x="84723" y="0"/>
                  </a:moveTo>
                  <a:lnTo>
                    <a:pt x="1142689" y="0"/>
                  </a:lnTo>
                  <a:cubicBezTo>
                    <a:pt x="1165159" y="0"/>
                    <a:pt x="1186708" y="8926"/>
                    <a:pt x="1202597" y="24815"/>
                  </a:cubicBezTo>
                  <a:cubicBezTo>
                    <a:pt x="1218486" y="40704"/>
                    <a:pt x="1227412" y="62253"/>
                    <a:pt x="1227412" y="84723"/>
                  </a:cubicBezTo>
                  <a:lnTo>
                    <a:pt x="1227412" y="1516250"/>
                  </a:lnTo>
                  <a:cubicBezTo>
                    <a:pt x="1227412" y="1538720"/>
                    <a:pt x="1218486" y="1560270"/>
                    <a:pt x="1202597" y="1576158"/>
                  </a:cubicBezTo>
                  <a:cubicBezTo>
                    <a:pt x="1186708" y="1592047"/>
                    <a:pt x="1165159" y="1600973"/>
                    <a:pt x="1142689" y="1600973"/>
                  </a:cubicBezTo>
                  <a:lnTo>
                    <a:pt x="84723" y="1600973"/>
                  </a:lnTo>
                  <a:cubicBezTo>
                    <a:pt x="62253" y="1600973"/>
                    <a:pt x="40704" y="1592047"/>
                    <a:pt x="24815" y="1576158"/>
                  </a:cubicBezTo>
                  <a:cubicBezTo>
                    <a:pt x="8926" y="1560270"/>
                    <a:pt x="0" y="1538720"/>
                    <a:pt x="0" y="1516250"/>
                  </a:cubicBezTo>
                  <a:lnTo>
                    <a:pt x="0" y="84723"/>
                  </a:lnTo>
                  <a:cubicBezTo>
                    <a:pt x="0" y="62253"/>
                    <a:pt x="8926" y="40704"/>
                    <a:pt x="24815" y="24815"/>
                  </a:cubicBezTo>
                  <a:cubicBezTo>
                    <a:pt x="40704" y="8926"/>
                    <a:pt x="62253" y="0"/>
                    <a:pt x="84723" y="0"/>
                  </a:cubicBezTo>
                  <a:close/>
                </a:path>
              </a:pathLst>
            </a:custGeom>
            <a:solidFill>
              <a:srgbClr val="F4D48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1227412" cy="1572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8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248069" y="4017749"/>
            <a:ext cx="1692404" cy="1692404"/>
          </a:xfrm>
          <a:custGeom>
            <a:avLst/>
            <a:gdLst/>
            <a:ahLst/>
            <a:cxnLst/>
            <a:rect r="r" b="b" t="t" l="l"/>
            <a:pathLst>
              <a:path h="1692404" w="1692404">
                <a:moveTo>
                  <a:pt x="0" y="0"/>
                </a:moveTo>
                <a:lnTo>
                  <a:pt x="1692404" y="0"/>
                </a:lnTo>
                <a:lnTo>
                  <a:pt x="1692404" y="1692404"/>
                </a:lnTo>
                <a:lnTo>
                  <a:pt x="0" y="16924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933450"/>
            <a:ext cx="14659084" cy="1598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B7B1F4"/>
                </a:solidFill>
                <a:latin typeface="Nunito Bold"/>
                <a:ea typeface="Nunito Bold"/>
                <a:cs typeface="Nunito Bold"/>
                <a:sym typeface="Nunito Bold"/>
              </a:rPr>
              <a:t>D</a:t>
            </a:r>
            <a:r>
              <a:rPr lang="en-US" sz="4800" b="true">
                <a:solidFill>
                  <a:srgbClr val="B7B1F4"/>
                </a:solidFill>
                <a:latin typeface="Nunito Bold"/>
                <a:ea typeface="Nunito Bold"/>
                <a:cs typeface="Nunito Bold"/>
                <a:sym typeface="Nunito Bold"/>
              </a:rPr>
              <a:t>ASHBOARDS DE NEGOCIO Y GESTIÓN LEGAL</a:t>
            </a:r>
          </a:p>
          <a:p>
            <a:pPr algn="l">
              <a:lnSpc>
                <a:spcPts val="2940"/>
              </a:lnSpc>
            </a:pPr>
            <a:r>
              <a:rPr lang="en-US" b="true" sz="2100" i="true">
                <a:solidFill>
                  <a:srgbClr val="B7B1F4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"PROPORCIONAR DASHBOARDS OPERATIVOS Y DE NEGOCIO PARA EL SEGUIMIENTO DE LA ADOPCIÓN, EL USO Y LAS MÉTRICAS CLAVE DE LA PLATAFORMA."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49680" y="3553818"/>
            <a:ext cx="9509620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Métricas de adopción y uso</a:t>
            </a:r>
          </a:p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Dashboard</a:t>
            </a: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s operativos y de negocio para seguimiento de KPIs clave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49680" y="5370562"/>
            <a:ext cx="9509620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Aspectos legales</a:t>
            </a:r>
          </a:p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Gest</a:t>
            </a: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ión de términos y condiciones, y de política de privacidad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49680" y="7190474"/>
            <a:ext cx="9509620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Visibilidad para Wellq Co</a:t>
            </a:r>
          </a:p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L</a:t>
            </a: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a herramienta que muestra la salud del producto y del negocio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24423" y="6241274"/>
            <a:ext cx="2139697" cy="805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799" spc="-55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Da</a:t>
            </a:r>
            <a:r>
              <a:rPr lang="en-US" sz="2799" spc="-55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shboa</a:t>
            </a:r>
            <a:r>
              <a:rPr lang="en-US" sz="2799" spc="-55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rds</a:t>
            </a:r>
          </a:p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799" spc="-55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y negocio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4651292" y="7337777"/>
            <a:ext cx="3636708" cy="3075295"/>
          </a:xfrm>
          <a:custGeom>
            <a:avLst/>
            <a:gdLst/>
            <a:ahLst/>
            <a:cxnLst/>
            <a:rect r="r" b="b" t="t" l="l"/>
            <a:pathLst>
              <a:path h="3075295" w="3636708">
                <a:moveTo>
                  <a:pt x="0" y="0"/>
                </a:moveTo>
                <a:lnTo>
                  <a:pt x="3636708" y="0"/>
                </a:lnTo>
                <a:lnTo>
                  <a:pt x="3636708" y="3075295"/>
                </a:lnTo>
                <a:lnTo>
                  <a:pt x="0" y="30752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886450"/>
            <a:ext cx="877444" cy="87744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983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703194"/>
            <a:ext cx="877444" cy="8774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98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6523106"/>
            <a:ext cx="877444" cy="87744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983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8286375"/>
            <a:ext cx="877444" cy="87744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983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933450"/>
            <a:ext cx="12935036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B7B1F4"/>
                </a:solidFill>
                <a:latin typeface="Nunito Bold"/>
                <a:ea typeface="Nunito Bold"/>
                <a:cs typeface="Nunito Bold"/>
                <a:sym typeface="Nunito Bold"/>
              </a:rPr>
              <a:t>C</a:t>
            </a:r>
            <a:r>
              <a:rPr lang="en-US" b="true" sz="4800">
                <a:solidFill>
                  <a:srgbClr val="B7B1F4"/>
                </a:solidFill>
                <a:latin typeface="Nunito Bold"/>
                <a:ea typeface="Nunito Bold"/>
                <a:cs typeface="Nunito Bold"/>
                <a:sym typeface="Nunito Bold"/>
              </a:rPr>
              <a:t>ONC</a:t>
            </a:r>
            <a:r>
              <a:rPr lang="en-US" b="true" sz="4800">
                <a:solidFill>
                  <a:srgbClr val="B7B1F4"/>
                </a:solidFill>
                <a:latin typeface="Nunito Bold"/>
                <a:ea typeface="Nunito Bold"/>
                <a:cs typeface="Nunito Bold"/>
                <a:sym typeface="Nunito Bold"/>
              </a:rPr>
              <a:t>LUSIONES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30044" y="2694554"/>
            <a:ext cx="9509620" cy="1185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Sostenibilidad del Negocio</a:t>
            </a:r>
          </a:p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Mide la conversión de planes premium (MRR en CLP y churn) y administra los catálogos del marketplace.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30044" y="4511298"/>
            <a:ext cx="9509620" cy="1185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Continuidad Operativa</a:t>
            </a:r>
          </a:p>
          <a:p>
            <a:pPr algn="l">
              <a:lnSpc>
                <a:spcPts val="2664"/>
              </a:lnSpc>
            </a:pP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Monitorea procesos críticos de salud (caídas y SOS) y gestiona tickets con contexto del paciente.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30044" y="6331209"/>
            <a:ext cx="9509620" cy="1185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Seguridad y Confianza</a:t>
            </a:r>
          </a:p>
          <a:p>
            <a:pPr algn="l">
              <a:lnSpc>
                <a:spcPts val="2664"/>
              </a:lnSpc>
            </a:pP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Protege los datos sensibles mediante doble factor (TOTP), roles RBAC y una bitácora inmutable de auditoría.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30044" y="8094478"/>
            <a:ext cx="9509620" cy="1185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Calidad de Experien</a:t>
            </a:r>
            <a:r>
              <a:rPr lang="en-US" sz="2799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cia</a:t>
            </a:r>
          </a:p>
          <a:p>
            <a:pPr algn="l">
              <a:lnSpc>
                <a:spcPts val="2664"/>
              </a:lnSpc>
            </a:pPr>
            <a:r>
              <a:rPr lang="en-US" sz="18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Asegura contenido accesible con voz (TTS) para el adulto mayor y modera reseñas de cuidadoras.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338326" y="2991779"/>
            <a:ext cx="5922838" cy="4989860"/>
          </a:xfrm>
          <a:custGeom>
            <a:avLst/>
            <a:gdLst/>
            <a:ahLst/>
            <a:cxnLst/>
            <a:rect r="r" b="b" t="t" l="l"/>
            <a:pathLst>
              <a:path h="4989860" w="5922838">
                <a:moveTo>
                  <a:pt x="0" y="0"/>
                </a:moveTo>
                <a:lnTo>
                  <a:pt x="5922838" y="0"/>
                </a:lnTo>
                <a:lnTo>
                  <a:pt x="5922838" y="4989861"/>
                </a:lnTo>
                <a:lnTo>
                  <a:pt x="0" y="4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DAHUSyT9wCo</dc:identifier>
  <dcterms:modified xsi:type="dcterms:W3CDTF">2011-08-01T06:04:30Z</dcterms:modified>
  <cp:revision>1</cp:revision>
  <dc:title>Agecare</dc:title>
</cp:coreProperties>
</file>